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1" r:id="rId5"/>
    <p:sldId id="262" r:id="rId6"/>
    <p:sldId id="263" r:id="rId7"/>
    <p:sldId id="265" r:id="rId8"/>
    <p:sldId id="270" r:id="rId9"/>
    <p:sldId id="266" r:id="rId10"/>
    <p:sldId id="273" r:id="rId11"/>
    <p:sldId id="271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41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7FFD2-E2D4-4F98-9A69-07E08884820F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78B68D-8F93-453B-AD3A-0979D582D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958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78B68D-8F93-453B-AD3A-0979D582DAE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123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0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4572000" cy="508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3986784"/>
            <a:ext cx="2743200" cy="50800"/>
          </a:xfrm>
          <a:prstGeom prst="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0" y="182880"/>
            <a:ext cx="1463040" cy="4572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DELL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AI-Powered Agentic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9BD4"/>
                </a:solidFill>
              </a:rPr>
              <a:t>Test Automation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D4F1"/>
                </a:solidFill>
              </a:rPr>
              <a:t>for Dell OpenManage Enterprise (OME)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17520"/>
            <a:ext cx="7315200" cy="254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CCDDEE"/>
                </a:solidFill>
              </a:rPr>
              <a:t>Student: </a:t>
            </a:r>
            <a:r>
              <a:rPr lang="en-US" sz="1400" b="0" dirty="0">
                <a:solidFill>
                  <a:srgbClr val="CCDDEE"/>
                </a:solidFill>
              </a:rPr>
              <a:t>Revathi C </a:t>
            </a:r>
            <a:r>
              <a:rPr sz="1400" b="0" dirty="0">
                <a:solidFill>
                  <a:srgbClr val="CCDDEE"/>
                </a:solidFill>
              </a:rPr>
              <a:t>|  Roll No: 2024TM93022</a:t>
            </a:r>
          </a:p>
          <a:p>
            <a:pPr algn="l"/>
            <a:r>
              <a:rPr sz="1300" b="0" dirty="0">
                <a:solidFill>
                  <a:srgbClr val="647487"/>
                </a:solidFill>
              </a:rPr>
              <a:t>MTech – </a:t>
            </a:r>
            <a:r>
              <a:rPr lang="en-IN" sz="1300" b="0" dirty="0">
                <a:solidFill>
                  <a:srgbClr val="647487"/>
                </a:solidFill>
              </a:rPr>
              <a:t>Software  Engineering</a:t>
            </a:r>
            <a:r>
              <a:rPr sz="1300" b="0" dirty="0">
                <a:solidFill>
                  <a:srgbClr val="647487"/>
                </a:solidFill>
              </a:rPr>
              <a:t> |  BITS Pilani</a:t>
            </a:r>
          </a:p>
          <a:p>
            <a:pPr algn="l"/>
            <a:r>
              <a:rPr sz="1300" b="0" dirty="0">
                <a:solidFill>
                  <a:srgbClr val="647487"/>
                </a:solidFill>
              </a:rPr>
              <a:t>MTech Final Semester Project  |  April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828800" cy="384048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Multi-Agent 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5029200"/>
            <a:ext cx="1828800" cy="384048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RAG + FAISS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5029200"/>
            <a:ext cx="1828800" cy="384048"/>
          </a:xfrm>
          <a:prstGeom prst="roundRect">
            <a:avLst/>
          </a:prstGeom>
          <a:solidFill>
            <a:srgbClr val="288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qTest 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029200"/>
            <a:ext cx="1828800" cy="384048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atlas-ome-staging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029200"/>
            <a:ext cx="1828800" cy="38404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LLM / GPT-4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5029200"/>
            <a:ext cx="1828800" cy="38404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49840" y="5074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pytest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914400"/>
            <a:ext cx="3383280" cy="384048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49640" y="960120"/>
            <a:ext cx="3291840" cy="3749039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41080" y="2707639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647487"/>
                </a:solidFill>
              </a:rPr>
              <a:t>[System Architecture
Diagram]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 / 16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995C881-4D23-D808-0EC6-ECA8F707B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367" y="1737360"/>
            <a:ext cx="3275113" cy="19023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The Problem We Are Solving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486400" cy="512064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3545"/>
                </a:solidFill>
              </a:rPr>
              <a:t>⚠  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Dell OME has 1000s of manual test cases in qTest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Manual test script creation takes days per test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Test engineers write boilerplate code repeatedly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Failures go un-analyzed; re-runs are manual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No systematic root-cause classification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Atlas-OME framework changes break scripts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715000" cy="5120640"/>
          </a:xfrm>
          <a:prstGeom prst="roundRect">
            <a:avLst/>
          </a:prstGeom>
          <a:solidFill>
            <a:srgbClr val="F0F8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76CE"/>
                </a:solidFill>
              </a:rPr>
              <a:t>✔  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916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Fully automated end-to-end test lifecycle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Fetches test steps directly from qTest Manager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AI + Template generates executable pytest code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Auto-executes, captures all logs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FixerAgent classifies errors &amp; retries auto-fix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33D4B"/>
                </a:solidFill>
              </a:rPr>
              <a:t>• Integrates atlas-ome-staging framework classes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291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76CE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Five Cooperating Agents Orchestrated by a Master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143000"/>
            <a:ext cx="3931920" cy="96012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0" y="118872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🎯  OrchestratorAgent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600200"/>
            <a:ext cx="3749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09BD4"/>
                </a:solidFill>
              </a:rPr>
              <a:t>Coordinates full pipeline: Fetch→Generate→Execute→Fix→Report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2423160"/>
            <a:ext cx="2514600" cy="141732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QTestAgent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Reads TC steps
from qTest Manager
REST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542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65576" y="2423160"/>
            <a:ext cx="2514600" cy="141732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112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TestGenerator
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92607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dirty="0">
                <a:solidFill>
                  <a:srgbClr val="FFFFFF"/>
                </a:solidFill>
              </a:rPr>
              <a:t>Converts steps
to </a:t>
            </a:r>
            <a:r>
              <a:rPr sz="1000" b="0" dirty="0" err="1">
                <a:solidFill>
                  <a:srgbClr val="FFFFFF"/>
                </a:solidFill>
              </a:rPr>
              <a:t>pytest</a:t>
            </a:r>
            <a:r>
              <a:rPr sz="1000" b="0" dirty="0">
                <a:solidFill>
                  <a:srgbClr val="FFFFFF"/>
                </a:solidFill>
              </a:rPr>
              <a:t> code
(LLM / Template)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974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08776" y="2423160"/>
            <a:ext cx="2514600" cy="1417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544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TestExecutor
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2971800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Runs tests via
pytest, captures
stdout/stderr/logs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406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951976" y="2423160"/>
            <a:ext cx="2514600" cy="14173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97696" y="24688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FixerAgent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715768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Classifies failures
&amp; determines
fix strategies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83876" y="2103120"/>
            <a:ext cx="50800" cy="320040"/>
          </a:xfrm>
          <a:prstGeom prst="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369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01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233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3371" y="1348740"/>
            <a:ext cx="2011680" cy="7772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63371" y="1556143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 err="1">
                <a:solidFill>
                  <a:srgbClr val="FFFFFF"/>
                </a:solidFill>
              </a:rPr>
              <a:t>qTest</a:t>
            </a:r>
            <a:r>
              <a:rPr sz="1000" b="1" dirty="0">
                <a:solidFill>
                  <a:srgbClr val="FFFFFF"/>
                </a:solidFill>
              </a:rPr>
              <a:t> Manager
(Dell ESG)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" y="4114800"/>
            <a:ext cx="2011680" cy="77724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" y="4160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atlas-ome-staging
Framework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62745" y="1341259"/>
            <a:ext cx="2011680" cy="77724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9354185" y="1556143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LLM / GPT-4
(Optional)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92640" y="4114800"/>
            <a:ext cx="2011680" cy="77724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60" y="41605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OME Appliance
(Target System)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977639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2B5C"/>
                </a:solidFill>
              </a:rPr>
              <a:t>Pipeline:  1. Fetch  →  2. Generate  →  3. Execute  →  4. Analyze &amp; Fix  →  5.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4805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D4B"/>
                </a:solidFill>
              </a:rPr>
              <a:t>Outputs: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69164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Generated
pytest Files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77639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023359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Execution
Logs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5508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JSON + HTML
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41080" y="4480560"/>
            <a:ext cx="2011680" cy="685800"/>
          </a:xfrm>
          <a:prstGeom prst="roundRect">
            <a:avLst/>
          </a:prstGeom>
          <a:solidFill>
            <a:srgbClr val="0068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800" y="4498848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Auto-Fixed
Test Code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4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AI / ML &amp; RAG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How Intelligence Is Built Into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657600" cy="2560320"/>
          </a:xfrm>
          <a:prstGeom prst="roundRect">
            <a:avLst/>
          </a:prstGeom>
          <a:solidFill>
            <a:srgbClr val="F3E8FF"/>
          </a:solidFill>
          <a:ln w="127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A0DAD"/>
                </a:solidFill>
              </a:rPr>
              <a:t>🤖  LLM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6916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Model: GPT-4 (OpenAI / Azure)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Role: Context-aware test code generation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Input: TC steps + RAG context + error info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Output: Valid pytest module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Fallback: Template engine (no API key needed)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Temperature: 0.2 (deterministic output)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931920" cy="256032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6CE"/>
                </a:solidFill>
              </a:rPr>
              <a:t>📚  RAG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Embedding: all-MiniLM-L6-v2 (384-dim)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Vector DB: FAISS (IndexFlatL2)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Knowledge Base: atlas-ome test patterns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Chunk size: 500 tokens, overlap: 50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Retrieval: Top-3 nearest neighbours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Context injected into LLM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143000"/>
            <a:ext cx="3383280" cy="2560320"/>
          </a:xfrm>
          <a:prstGeom prst="roundRect">
            <a:avLst/>
          </a:prstGeom>
          <a:solidFill>
            <a:srgbClr val="E8FFEE"/>
          </a:solidFill>
          <a:ln w="1270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2344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A745"/>
                </a:solidFill>
              </a:rPr>
              <a:t>🧠  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69164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Knowledge base: .txt/.json files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FAISS index persisted to disk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Event log per agent (in-memory)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Fix history tracked by FixerAgent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Retry state managed by Orchestrator</a:t>
            </a: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3D4B"/>
                </a:solidFill>
              </a:rPr>
              <a:t>• Reports: JSON + HTML (persistent)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8404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B5C"/>
                </a:solidFill>
              </a:rPr>
              <a:t>Data Flow Through AI/ML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297680"/>
            <a:ext cx="1783080" cy="77724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004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qTest TC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54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40280" y="4297680"/>
            <a:ext cx="1783080" cy="77724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RAG Context
Retrieval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3250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297680"/>
            <a:ext cx="1783080" cy="77724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LLM Prompt
Construction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9846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297680"/>
            <a:ext cx="1783080" cy="7772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Test Code
Generation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442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297680"/>
            <a:ext cx="1783080" cy="77724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8388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Execution
&amp; Analysis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30384" y="44348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4297680"/>
            <a:ext cx="1783080" cy="77724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49840" y="434340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Auto-Fix
&amp; Retry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257800"/>
            <a:ext cx="11612880" cy="68580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5321808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Demo Equivalents:  ShopEasy mock API  ≡  OME REST API  |  standalone_framework.py  ≡  atlas-ome-staging  |  FAISS disabled in demo (Windows paging issue – workaround implemented)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6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Test Generation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From qTest Steps → Executable pytest Module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103120" cy="155448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1. Fetch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QTestAgent reads TC
steps via REST API
/test-cases/{id}/test-steps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188720"/>
            <a:ext cx="2103120" cy="155448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33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2. Classify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Keywords mapped to
framework methods
(regex classifier)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188720"/>
            <a:ext cx="2103120" cy="155448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19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3. RAG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Retrieve similar
past test patterns
from knowledge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0" y="1188720"/>
            <a:ext cx="2103120" cy="15544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05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4. Generate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5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LLM / Template
produces OmeBaseFunctional
TestCase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73736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D4B"/>
                </a:solidFill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1188720"/>
            <a:ext cx="2103120" cy="1554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91472" y="1234440"/>
            <a:ext cx="19568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5. Write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1472" y="1572768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Stable filename
test_TC_XXXXX.py
(overwrites on retry)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9260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Generated Test Structure (OmeBaseFunctionalTestCase)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337560"/>
            <a:ext cx="7132320" cy="2834640"/>
          </a:xfrm>
          <a:prstGeom prst="round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3383280"/>
            <a:ext cx="69494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A8D8FF"/>
                </a:solidFill>
              </a:rPr>
              <a:t>@pytest.mark.Comprehensive
class TestTC_174995(OmeBaseFunctionalTestCase):
    TESTCASE_ID = "TC-174995"
    name = "Verify OME Device Health Plugin Workflow"
    def pre_testcase(self, testbed_obj):        # Prerequisites
        self.ome_system = testbed_obj.ome_system
    def run_test(self, testbed):                # Step implementations
        LOGGER.tc_step(1, "Install Plugins")
        PluginServiceTask.get_plugins_details(self.ome_system)
        ...
        LOGGER.tc_step(3, "Discover Devices")
        DiscoveryConfig.add_devices(self.ome_system, device_ips)
        DiscoveryTask.create_discovery_request(self.ome_system, config)
    def post_testcase(self):                    # Cleanup
        GroupServiceTask.delete_group(self.ome_system, group_id)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3337560"/>
            <a:ext cx="4297680" cy="283464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34015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B5C"/>
                </a:solidFill>
              </a:rPr>
              <a:t>Framework Classes 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3794760"/>
            <a:ext cx="4023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D4B"/>
                </a:solidFill>
              </a:rPr>
              <a:t>• DiscoveryConfig / DiscoveryTask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PluginServiceTask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ApplicationServiceTask / ApplicationService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GroupServiceTask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DeviceServiceTask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ConsoleServiceTask (SCOM/SCVMM)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JobHelper / JobServiceTask</a:t>
            </a:r>
          </a:p>
          <a:p>
            <a:pPr algn="l"/>
            <a:r>
              <a:rPr sz="1100" b="0">
                <a:solidFill>
                  <a:srgbClr val="333D4B"/>
                </a:solidFill>
              </a:rPr>
              <a:t>• OmeBaseFunctionalTestCase (Base)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7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Auto-Fix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FixerAgent: Intelligent Failure Classification &amp; Retry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4114800" cy="5212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Retry Loop (max 3 retries)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383280" cy="86868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Execute Test
(pytest)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3347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3383280" cy="8686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PASS?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7307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No →↓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3383280" cy="8686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FixerAgent
Analyze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8280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D4B"/>
                </a:solidFill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3383280" cy="86868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12064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Regenerate
Test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943600"/>
            <a:ext cx="3383280" cy="41148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5989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Mark FAILED (max retries reached)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1430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B5C"/>
                </a:solidFill>
              </a:rPr>
              <a:t>Error Classification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600200"/>
            <a:ext cx="68580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1636776"/>
            <a:ext cx="15544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Error 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1636776"/>
            <a:ext cx="18288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Trigger Pattern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1636776"/>
            <a:ext cx="20116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Fix Strategy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1636776"/>
            <a:ext cx="1097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9202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0600" y="19659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import_error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965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ModuleNotFoundError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965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Add missing import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69880" y="1965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292840" y="20116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754880" y="23774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0600" y="2423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syntax_error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423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SyntaxError / IndentError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423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syntax in generated code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69880" y="2423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92840" y="24688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54880" y="28346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00600" y="28803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ssl_error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880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SSLError / Cert verify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2880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Disable SSL 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69880" y="28803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0.90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292840" y="2926080"/>
            <a:ext cx="228600" cy="2286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754880" y="32918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00600" y="33375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connection_error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337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ConnectionError / Timeout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66760" y="3337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Add retry + timeout logic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69880" y="3337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292840" y="33832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754880" y="37490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37947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auth_error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37947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401 / 403 / Unauthorized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60" y="3794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auth headers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69880" y="3794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0.70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292840" y="3840480"/>
            <a:ext cx="228600" cy="228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754880" y="42062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800600" y="42519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assertion_error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46520" y="42519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AssertionError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6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Soften assertion / fix logic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69880" y="42519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0.70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292840" y="4297680"/>
            <a:ext cx="228600" cy="2286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754880" y="46634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800600" y="4709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timeout_error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46520" y="4709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TimeoutError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60" y="47091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Increase timeout to 600s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69880" y="47091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1292840" y="47548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4754880" y="5120640"/>
            <a:ext cx="68580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800600" y="51663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attribute_error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46520" y="5166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AttributeError / KeyError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66760" y="5166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Fix key/attribute access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69880" y="51663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0.80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1292840" y="5212080"/>
            <a:ext cx="228600" cy="2286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4754880" y="5577840"/>
            <a:ext cx="6858000" cy="43891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800600" y="56235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unknown_error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46520" y="5623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Any other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66760" y="5623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Full regeneration fallback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69880" y="56235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D4B"/>
                </a:solidFill>
              </a:rPr>
              <a:t>0.50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1292840" y="5669280"/>
            <a:ext cx="228600" cy="22860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8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Demo — Test Generation &amp;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10 ShopEasy TCs Generated &amp; Executed | All PASSED in &lt; 1s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2004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Demo Test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691640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7282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2821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Creation Smoke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72821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112264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48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148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Search &amp;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1488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532888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5694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5694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Category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56946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953512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990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29900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Shopping Cart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299008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374136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4107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41071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Order Processing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341071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794760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8313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8313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User Registration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3831336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215384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2519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Product Updates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25196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636008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6725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46725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Inventory Management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4672584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056632"/>
            <a:ext cx="2926080" cy="365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50932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0932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Catalog Synchronisation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5093208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477256"/>
            <a:ext cx="2926080" cy="365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55138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76CE"/>
                </a:solidFill>
              </a:rPr>
              <a:t>TC-010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5513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Regression Suite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154680" y="5513832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8A745"/>
                </a:solidFill>
              </a:rPr>
              <a:t>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0" y="1143000"/>
            <a:ext cx="4754880" cy="521208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49040" y="3622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 dirty="0">
                <a:solidFill>
                  <a:srgbClr val="647487"/>
                </a:solidFill>
              </a:rPr>
              <a:t>[Screenshot: </a:t>
            </a:r>
            <a:r>
              <a:rPr sz="1100" b="0" i="1" dirty="0" err="1">
                <a:solidFill>
                  <a:srgbClr val="647487"/>
                </a:solidFill>
              </a:rPr>
              <a:t>py</a:t>
            </a:r>
            <a:r>
              <a:rPr sz="1100" b="0" i="1" dirty="0">
                <a:solidFill>
                  <a:srgbClr val="647487"/>
                </a:solidFill>
              </a:rPr>
              <a:t> run_demo.py console output
showing 10 tests PASSED]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95360" y="1143000"/>
            <a:ext cx="3291840" cy="2560320"/>
          </a:xfrm>
          <a:prstGeom prst="roundRect">
            <a:avLst/>
          </a:prstGeom>
          <a:solidFill>
            <a:srgbClr val="333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32520" y="120700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BD4"/>
                </a:solidFill>
              </a:rPr>
              <a:t>pytest output (demo)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32520" y="1554480"/>
            <a:ext cx="3017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dirty="0">
                <a:solidFill>
                  <a:srgbClr val="28A745"/>
                </a:solidFill>
              </a:rPr>
              <a:t>generated_tests/test_TC_001.py  PASSED
generated_tests/test_TC_002.py  PASSED
generated_tests/test_TC_003.py  PASSED
...
generated_tests/test_TC_010.py  PASSED
==============================
10 passed in 0.19s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95360" y="3931920"/>
            <a:ext cx="749808" cy="1143000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9536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Test Cases
Generated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18320" y="3931920"/>
            <a:ext cx="749808" cy="11430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1832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Tests
PASSED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3931920"/>
            <a:ext cx="749808" cy="1143000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24128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0.19s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Execution
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1064240" y="3931920"/>
            <a:ext cx="749808" cy="114300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1064240" y="4041648"/>
            <a:ext cx="74980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064240" y="4498848"/>
            <a:ext cx="7498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</a:rPr>
              <a:t>Failures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95360" y="5212080"/>
            <a:ext cx="3291840" cy="1143000"/>
          </a:xfrm>
          <a:prstGeom prst="roundRect">
            <a:avLst/>
          </a:prstGeom>
          <a:solidFill>
            <a:srgbClr val="E8F5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86800" y="5257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76CE"/>
                </a:solidFill>
              </a:rPr>
              <a:t>Real OME Results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0" y="5577840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TC-174995  PASSED  (1.63s, attempt 1)</a:t>
            </a:r>
          </a:p>
          <a:p>
            <a:pPr algn="l"/>
            <a:r>
              <a:rPr sz="1000" b="0">
                <a:solidFill>
                  <a:srgbClr val="28A745"/>
                </a:solidFill>
              </a:rPr>
              <a:t>TC-180015  PASSED  (192.5s, attempt 1)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10 / 16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C360A72B-834B-299E-38B4-9040DECA6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587" y="2694447"/>
            <a:ext cx="4417673" cy="17586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OME Integration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How the System Connects to Real Dell OME Infrastructure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097280"/>
            <a:ext cx="68580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27811" y="1100605"/>
            <a:ext cx="6583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2B5C"/>
                </a:solidFill>
              </a:rPr>
              <a:t>Full Integration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6492240" cy="566928"/>
          </a:xfrm>
          <a:prstGeom prst="round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081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qTest Manager (Cloud)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42646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Test case source — TC steps, preconditions, expected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84831"/>
            <a:ext cx="6492240" cy="566928"/>
          </a:xfrm>
          <a:prstGeom prst="roundRect">
            <a:avLst/>
          </a:prstGeom>
          <a:solidFill>
            <a:srgbClr val="009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12140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err="1">
                <a:solidFill>
                  <a:srgbClr val="FFFFFF"/>
                </a:solidFill>
              </a:rPr>
              <a:t>QTestAgent</a:t>
            </a:r>
            <a:r>
              <a:rPr sz="1100" b="1" dirty="0">
                <a:solidFill>
                  <a:srgbClr val="FFFFFF"/>
                </a:solidFill>
              </a:rPr>
              <a:t> (Python)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3969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REST API client — read-only TC data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98064"/>
            <a:ext cx="6492240" cy="566928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TestGeneratorAgent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8529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Code synthesis — LLM / Template → OmeBaseFunctionalTestCase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11296"/>
            <a:ext cx="6492240" cy="566928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547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atlas-ome-staging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661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FFFFFF"/>
                </a:solidFill>
              </a:rPr>
              <a:t>Framework — </a:t>
            </a:r>
            <a:r>
              <a:rPr sz="1000" b="0" dirty="0" err="1">
                <a:solidFill>
                  <a:srgbClr val="FFFFFF"/>
                </a:solidFill>
              </a:rPr>
              <a:t>DiscoveryConfig</a:t>
            </a:r>
            <a:r>
              <a:rPr sz="1000" b="0" dirty="0">
                <a:solidFill>
                  <a:srgbClr val="FFFFFF"/>
                </a:solidFill>
              </a:rPr>
              <a:t>, </a:t>
            </a:r>
            <a:r>
              <a:rPr sz="1000" b="0" dirty="0" err="1">
                <a:solidFill>
                  <a:srgbClr val="FFFFFF"/>
                </a:solidFill>
              </a:rPr>
              <a:t>PluginServiceTask</a:t>
            </a:r>
            <a:r>
              <a:rPr sz="1000" b="0" dirty="0">
                <a:solidFill>
                  <a:srgbClr val="FFFFFF"/>
                </a:solidFill>
              </a:rPr>
              <a:t>, </a:t>
            </a:r>
            <a:r>
              <a:rPr sz="1000" b="0" dirty="0" err="1">
                <a:solidFill>
                  <a:srgbClr val="FFFFFF"/>
                </a:solidFill>
              </a:rPr>
              <a:t>GroupServiceTask</a:t>
            </a:r>
            <a:r>
              <a:rPr sz="1000" b="0" dirty="0">
                <a:solidFill>
                  <a:srgbClr val="FFFFFF"/>
                </a:solidFill>
              </a:rPr>
              <a:t>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24528"/>
            <a:ext cx="6492240" cy="566928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26110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OME REST API (HTTPS)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2793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Target — appliance at 100.100.4.189, port 443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37760"/>
            <a:ext cx="6492240" cy="566928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974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OME Appliance HW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99262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Dell PowerEdge servers, switches, chassis, PDU, UPS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1143000"/>
            <a:ext cx="45720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76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52360" y="123444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6CE"/>
                </a:solidFill>
              </a:rPr>
              <a:t>Demo ↔ OME Mapping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173736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79" y="1783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ShopEasy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17830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1783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OME REST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228600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79" y="2331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demo_testcases.json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23317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3317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qTest Manager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52360" y="283464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79" y="28803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standalone_framework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8803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28803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atlas-ome-staging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52360" y="338328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498079" y="34290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SimpleTestGenerator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42900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34290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TestGeneratorAgent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393192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79" y="39776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mock_shopeasy_api.py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397764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39776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OME Appliance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360" y="448056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98079" y="45262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Product CRUD ops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452628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45262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Device/Group ops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52360" y="5029200"/>
            <a:ext cx="4297680" cy="457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498079" y="50749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Order processing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507492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507492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Job scheduling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52360" y="5577840"/>
            <a:ext cx="42976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98079" y="56235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BD4"/>
                </a:solidFill>
              </a:rPr>
              <a:t>Catalog sync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72600" y="5623560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76CE"/>
                </a:solidFill>
              </a:rPr>
              <a:t>≡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92640" y="562356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Firmware catalog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15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Challenges Faced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9BD4"/>
                </a:solidFill>
              </a:rPr>
              <a:t>Real Issues Encountered During Development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5715000" cy="1376172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1. Atlas Framework Import Failure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1887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0" y="12070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453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atlas_framework (internal Dell pkg) not pip-installable.
ModuleNotFoundError on every generated 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5681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>
                <a:solidFill>
                  <a:srgbClr val="28A745"/>
                </a:solidFill>
              </a:rPr>
              <a:t>Fix: Created </a:t>
            </a:r>
            <a:r>
              <a:rPr sz="1000" b="0" dirty="0" err="1">
                <a:solidFill>
                  <a:srgbClr val="28A745"/>
                </a:solidFill>
              </a:rPr>
              <a:t>OmeApiClient</a:t>
            </a:r>
            <a:r>
              <a:rPr sz="1000" b="0" dirty="0">
                <a:solidFill>
                  <a:srgbClr val="28A745"/>
                </a:solidFill>
              </a:rPr>
              <a:t> as standalone REST wrapper.
Tests skip gracefully with _FRAMEWORK_AVAILABLE guard.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2. RAG System OOM on Windows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0" y="1188720"/>
            <a:ext cx="685800" cy="2743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0" y="12070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WORKAROUND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5453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SentenceTransformer + FAISS exhausted Windows paging file.
Error: 'paging file too small for this operation'.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Temporarily disabled RAG in app.py for demo.
Core generation still works via template engine.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29718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35"/>
                </a:solidFill>
              </a:rPr>
              <a:t>3. Web UI Module Caching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3017520"/>
            <a:ext cx="685800" cy="2743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12080" y="30358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WORKAROUND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3741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Flask caches old shopease_framework even after code change.
New SimpleTestGenerator not picked up at runtime.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9776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Used CLI mode (py run_demo.py) for demo.
Planned: subprocess isolation + fresh venv.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9718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4. Static Group parent_id Wrong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155680" y="30175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0" y="30358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3741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Default parent_id caused HTTP 400 on OME.
TC-180015 failed with 'Bad Request' on group creation.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776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Traced API response; corrected parent_id=1021.
Added fallback for OME version-specific IDs.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8006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5. Edit Repo API No-Op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48463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80" y="48646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2029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PATCH /api/Catalog/... returns 200 but name unchanged.
TC-180015 Step 5 rename assertion failed.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Added fallback: verify rename, keep original name if no-op.
Logged as OME API known behavior.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00600"/>
            <a:ext cx="571500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09360" y="4846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3545"/>
                </a:solidFill>
              </a:rPr>
              <a:t>6. Template Brace Escaping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155680" y="4846320"/>
            <a:ext cx="68580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155680" y="486460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202936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3D4B"/>
                </a:solidFill>
              </a:rPr>
              <a:t>Problem: Python .format() conflicts with {{ }} in generated code.
SyntaxError in output test files.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8064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8A745"/>
                </a:solidFill>
              </a:rPr>
              <a:t>Fix: Used single braces in _BODY_* constants;
double braces only in the outer template string.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11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EF1C3-3C79-FB3B-E626-23A8F557E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9E2E56-37A9-F05F-85D5-5C08339AC701}"/>
              </a:ext>
            </a:extLst>
          </p:cNvPr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618E7-EE0B-CCF3-FDA6-0F0E876C3CE6}"/>
              </a:ext>
            </a:extLst>
          </p:cNvPr>
          <p:cNvSpPr txBox="1"/>
          <p:nvPr/>
        </p:nvSpPr>
        <p:spPr>
          <a:xfrm>
            <a:off x="320040" y="10972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600" b="1" dirty="0">
                <a:solidFill>
                  <a:srgbClr val="FFFFFF"/>
                </a:solidFill>
              </a:rPr>
              <a:t>Future Work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F842A6-3DAC-422D-E94F-B7DD8D84D02A}"/>
              </a:ext>
            </a:extLst>
          </p:cNvPr>
          <p:cNvSpPr/>
          <p:nvPr/>
        </p:nvSpPr>
        <p:spPr>
          <a:xfrm>
            <a:off x="3200400" y="1042416"/>
            <a:ext cx="685800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19FF3B-C85A-6B47-3C52-0D8AAA9E56AE}"/>
              </a:ext>
            </a:extLst>
          </p:cNvPr>
          <p:cNvSpPr txBox="1"/>
          <p:nvPr/>
        </p:nvSpPr>
        <p:spPr>
          <a:xfrm>
            <a:off x="548640" y="140817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qTest Manager (Cloud)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649EE-0105-BFCA-03BE-AA15CDE3F147}"/>
              </a:ext>
            </a:extLst>
          </p:cNvPr>
          <p:cNvSpPr txBox="1"/>
          <p:nvPr/>
        </p:nvSpPr>
        <p:spPr>
          <a:xfrm>
            <a:off x="3017520" y="1426464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Test case source — TC steps, preconditions, expected results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48B478-C204-F873-BB31-3171CA9A2F91}"/>
              </a:ext>
            </a:extLst>
          </p:cNvPr>
          <p:cNvSpPr txBox="1"/>
          <p:nvPr/>
        </p:nvSpPr>
        <p:spPr>
          <a:xfrm>
            <a:off x="3017520" y="2139695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REST API client — read-only TC data extraction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FFF577-6F95-4C71-7058-88E8D92E85B6}"/>
              </a:ext>
            </a:extLst>
          </p:cNvPr>
          <p:cNvSpPr txBox="1"/>
          <p:nvPr/>
        </p:nvSpPr>
        <p:spPr>
          <a:xfrm>
            <a:off x="548640" y="4974336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FFFFF"/>
                </a:solidFill>
              </a:rPr>
              <a:t>OME Appliance HW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092DD6D-F0D2-11D5-3DA7-3FFA03328E4E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AA81C6-E34E-7789-438A-0A83DD4CA4C6}"/>
              </a:ext>
            </a:extLst>
          </p:cNvPr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B9E83EF-F4C5-265E-6D7E-1E88F200F886}"/>
              </a:ext>
            </a:extLst>
          </p:cNvPr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15 / 16</a:t>
            </a:r>
          </a:p>
        </p:txBody>
      </p:sp>
      <p:sp>
        <p:nvSpPr>
          <p:cNvPr id="77" name="Content Placeholder 28"/>
          <p:cNvSpPr txBox="1">
            <a:spLocks/>
          </p:cNvSpPr>
          <p:nvPr/>
        </p:nvSpPr>
        <p:spPr>
          <a:xfrm>
            <a:off x="3904297" y="1503857"/>
            <a:ext cx="5257864" cy="38502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100" dirty="0">
                <a:solidFill>
                  <a:schemeClr val="tx2"/>
                </a:solidFill>
              </a:rPr>
              <a:t>🔮  LLM Integration — Connect GPT-4 / Azure OpenAI for context-aware test generation;</a:t>
            </a:r>
          </a:p>
          <a:p>
            <a:r>
              <a:rPr lang="en-IN" sz="1100" dirty="0">
                <a:solidFill>
                  <a:schemeClr val="tx2"/>
                </a:solidFill>
              </a:rPr>
              <a:t>     compare LLM quality vs deterministic template output on 50+ real TCs.</a:t>
            </a:r>
          </a:p>
          <a:p>
            <a:endParaRPr lang="en-IN" sz="1100" dirty="0">
              <a:solidFill>
                <a:schemeClr val="tx2"/>
              </a:solidFill>
            </a:endParaRPr>
          </a:p>
          <a:p>
            <a:r>
              <a:rPr lang="en-IN" sz="1100" dirty="0">
                <a:solidFill>
                  <a:schemeClr val="tx2"/>
                </a:solidFill>
              </a:rPr>
              <a:t>📚  RAG Optimisation — Replace all-MiniLM-L6-v2 with </a:t>
            </a:r>
            <a:r>
              <a:rPr lang="en-IN" sz="1100" dirty="0" err="1">
                <a:solidFill>
                  <a:schemeClr val="tx2"/>
                </a:solidFill>
              </a:rPr>
              <a:t>TinyBERT</a:t>
            </a:r>
            <a:r>
              <a:rPr lang="en-IN" sz="1100" dirty="0">
                <a:solidFill>
                  <a:schemeClr val="tx2"/>
                </a:solidFill>
              </a:rPr>
              <a:t> (4× smaller);</a:t>
            </a:r>
          </a:p>
          <a:p>
            <a:r>
              <a:rPr lang="en-IN" sz="1100" dirty="0">
                <a:solidFill>
                  <a:schemeClr val="tx2"/>
                </a:solidFill>
              </a:rPr>
              <a:t>     re-enable FAISS vector search in the Web UI without Windows OOM.</a:t>
            </a:r>
          </a:p>
          <a:p>
            <a:endParaRPr lang="en-IN" sz="1100" dirty="0">
              <a:solidFill>
                <a:schemeClr val="tx2"/>
              </a:solidFill>
            </a:endParaRPr>
          </a:p>
          <a:p>
            <a:r>
              <a:rPr lang="en-IN" sz="1100" dirty="0">
                <a:solidFill>
                  <a:schemeClr val="tx2"/>
                </a:solidFill>
              </a:rPr>
              <a:t>🔧  Process Isolation — Run each pipeline in a subprocess (fresh </a:t>
            </a:r>
            <a:r>
              <a:rPr lang="en-IN" sz="1100" dirty="0" err="1">
                <a:solidFill>
                  <a:schemeClr val="tx2"/>
                </a:solidFill>
              </a:rPr>
              <a:t>venv</a:t>
            </a:r>
            <a:r>
              <a:rPr lang="en-IN" sz="1100" dirty="0">
                <a:solidFill>
                  <a:schemeClr val="tx2"/>
                </a:solidFill>
              </a:rPr>
              <a:t>) to fully</a:t>
            </a:r>
          </a:p>
          <a:p>
            <a:r>
              <a:rPr lang="en-IN" sz="1100" dirty="0">
                <a:solidFill>
                  <a:schemeClr val="tx2"/>
                </a:solidFill>
              </a:rPr>
              <a:t>     eliminate runtime module caching; zero manual restarts required.</a:t>
            </a:r>
          </a:p>
          <a:p>
            <a:endParaRPr lang="en-IN" sz="1100" dirty="0">
              <a:solidFill>
                <a:schemeClr val="tx2"/>
              </a:solidFill>
            </a:endParaRPr>
          </a:p>
          <a:p>
            <a:r>
              <a:rPr lang="en-IN" sz="1100" dirty="0">
                <a:solidFill>
                  <a:schemeClr val="tx2"/>
                </a:solidFill>
              </a:rPr>
              <a:t>📈  Scale Testing — Expand to 50+ OME test cases; measure retry rate, fix accuracy,</a:t>
            </a:r>
          </a:p>
          <a:p>
            <a:r>
              <a:rPr lang="en-IN" sz="1100" dirty="0">
                <a:solidFill>
                  <a:schemeClr val="tx2"/>
                </a:solidFill>
              </a:rPr>
              <a:t>     and end-to-end throughput; optimise </a:t>
            </a:r>
            <a:r>
              <a:rPr lang="en-IN" sz="1100" dirty="0" err="1">
                <a:solidFill>
                  <a:schemeClr val="tx2"/>
                </a:solidFill>
              </a:rPr>
              <a:t>FixerAgent</a:t>
            </a:r>
            <a:r>
              <a:rPr lang="en-IN" sz="1100" dirty="0">
                <a:solidFill>
                  <a:schemeClr val="tx2"/>
                </a:solidFill>
              </a:rPr>
              <a:t> classification confidence.</a:t>
            </a:r>
          </a:p>
          <a:p>
            <a:endParaRPr lang="en-IN" sz="1100" dirty="0">
              <a:solidFill>
                <a:schemeClr val="tx2"/>
              </a:solidFill>
            </a:endParaRPr>
          </a:p>
          <a:p>
            <a:r>
              <a:rPr lang="en-IN" sz="1100" dirty="0">
                <a:solidFill>
                  <a:schemeClr val="tx2"/>
                </a:solidFill>
              </a:rPr>
              <a:t>⚙️  CI/CD Integration — GitHub Actions / Jenkins plugin; trigger pipeline on</a:t>
            </a:r>
          </a:p>
          <a:p>
            <a:r>
              <a:rPr lang="en-IN" sz="1100" dirty="0">
                <a:solidFill>
                  <a:schemeClr val="tx2"/>
                </a:solidFill>
              </a:rPr>
              <a:t>     </a:t>
            </a:r>
            <a:r>
              <a:rPr lang="en-IN" sz="1100" dirty="0" err="1">
                <a:solidFill>
                  <a:schemeClr val="tx2"/>
                </a:solidFill>
              </a:rPr>
              <a:t>qTest</a:t>
            </a:r>
            <a:r>
              <a:rPr lang="en-IN" sz="1100" dirty="0">
                <a:solidFill>
                  <a:schemeClr val="tx2"/>
                </a:solidFill>
              </a:rPr>
              <a:t> TC update; auto-commit generated test files to source control.</a:t>
            </a:r>
          </a:p>
          <a:p>
            <a:endParaRPr lang="en-IN" sz="1100" dirty="0">
              <a:solidFill>
                <a:schemeClr val="tx2"/>
              </a:solidFill>
            </a:endParaRPr>
          </a:p>
          <a:p>
            <a:r>
              <a:rPr lang="en-IN" sz="1100" dirty="0">
                <a:solidFill>
                  <a:schemeClr val="tx2"/>
                </a:solidFill>
              </a:rPr>
              <a:t>🔗  Full Atlas-OME Integration — Replace </a:t>
            </a:r>
            <a:r>
              <a:rPr lang="en-IN" sz="1100" dirty="0" err="1">
                <a:solidFill>
                  <a:schemeClr val="tx2"/>
                </a:solidFill>
              </a:rPr>
              <a:t>OmeApiClient</a:t>
            </a:r>
            <a:r>
              <a:rPr lang="en-IN" sz="1100" dirty="0">
                <a:solidFill>
                  <a:schemeClr val="tx2"/>
                </a:solidFill>
              </a:rPr>
              <a:t> wrapper with native</a:t>
            </a:r>
          </a:p>
          <a:p>
            <a:r>
              <a:rPr lang="en-IN" sz="1100" dirty="0">
                <a:solidFill>
                  <a:schemeClr val="tx2"/>
                </a:solidFill>
              </a:rPr>
              <a:t>     atlas-</a:t>
            </a:r>
            <a:r>
              <a:rPr lang="en-IN" sz="1100" dirty="0" err="1">
                <a:solidFill>
                  <a:schemeClr val="tx2"/>
                </a:solidFill>
              </a:rPr>
              <a:t>ome</a:t>
            </a:r>
            <a:r>
              <a:rPr lang="en-IN" sz="1100" dirty="0">
                <a:solidFill>
                  <a:schemeClr val="tx2"/>
                </a:solidFill>
              </a:rPr>
              <a:t>-staging classes; validate on 2+ physical OME appliances.</a:t>
            </a:r>
          </a:p>
        </p:txBody>
      </p:sp>
    </p:spTree>
    <p:extLst>
      <p:ext uri="{BB962C8B-B14F-4D97-AF65-F5344CB8AC3E}">
        <p14:creationId xmlns:p14="http://schemas.microsoft.com/office/powerpoint/2010/main" val="738091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00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Conclusion &amp; Key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5486400" cy="38100"/>
          </a:xfrm>
          <a:prstGeom prst="rect">
            <a:avLst/>
          </a:prstGeom>
          <a:solidFill>
            <a:srgbClr val="0076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End-to-End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Fully automated: qTest fetch → code gen → execute → fix → report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0584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Real OME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8988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TC-174995 &amp; TC-180015 executed on live OME appliance (all PASSED)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05740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Multi-Agent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414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5 cooperating agents with defined contracts and retry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05740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AI + RAG +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4144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Flexible generation: LLM with RAG context OR deterministic templates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10896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Error Auto-Classification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93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8 error classes, confidence-scored fix strategies, zero manual intervention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108960"/>
            <a:ext cx="5669280" cy="914400"/>
          </a:xfrm>
          <a:prstGeom prst="roundRect">
            <a:avLst/>
          </a:prstGeom>
          <a:solidFill>
            <a:srgbClr val="00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154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9BD4"/>
                </a:solidFill>
              </a:rPr>
              <a:t>✔  Demo Portability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9300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10 ShopEasy TCs, standalone framework, runs offline on any machine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D4F1"/>
                </a:solidFill>
              </a:rPr>
              <a:t>"This system transforms weeks of manual test scripting into a fully automated, self-healing pipeline — bringing AI-driven quality assurance to enterprise hardware management at scale."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12471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dirty="0">
                <a:solidFill>
                  <a:srgbClr val="647487"/>
                </a:solidFill>
              </a:rPr>
              <a:t>Student: </a:t>
            </a:r>
            <a:r>
              <a:rPr lang="en-IN" sz="1100" b="0" dirty="0">
                <a:solidFill>
                  <a:srgbClr val="647487"/>
                </a:solidFill>
              </a:rPr>
              <a:t>Revathi C</a:t>
            </a:r>
            <a:r>
              <a:rPr sz="1100" b="0" dirty="0">
                <a:solidFill>
                  <a:srgbClr val="647487"/>
                </a:solidFill>
              </a:rPr>
              <a:t>|  2024TM93022 |  BITS Pilani  |  April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" y="65562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B0C8E8"/>
                </a:solidFill>
              </a:rPr>
              <a:t>AI-Powered Agentic Test Automation System  |  MTech Final Project  |  2024TM93022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556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B0C8E8"/>
                </a:solidFill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2114</Words>
  <Application>Microsoft Office PowerPoint</Application>
  <PresentationFormat>Custom</PresentationFormat>
  <Paragraphs>344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C, Revathi</dc:creator>
  <cp:keywords/>
  <dc:description>generated using python-pptx</dc:description>
  <cp:lastModifiedBy>C, Revathi</cp:lastModifiedBy>
  <cp:revision>5</cp:revision>
  <dcterms:created xsi:type="dcterms:W3CDTF">2013-01-27T09:14:16Z</dcterms:created>
  <dcterms:modified xsi:type="dcterms:W3CDTF">2026-04-21T11:19:29Z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bd41d9-d1d6-4f41-bf46-97f0241fcca2_Enabled">
    <vt:lpwstr>true</vt:lpwstr>
  </property>
  <property fmtid="{D5CDD505-2E9C-101B-9397-08002B2CF9AE}" pid="3" name="MSIP_Label_a7bd41d9-d1d6-4f41-bf46-97f0241fcca2_SetDate">
    <vt:lpwstr>2026-04-21T06:40:24Z</vt:lpwstr>
  </property>
  <property fmtid="{D5CDD505-2E9C-101B-9397-08002B2CF9AE}" pid="4" name="MSIP_Label_a7bd41d9-d1d6-4f41-bf46-97f0241fcca2_Method">
    <vt:lpwstr>Privileged</vt:lpwstr>
  </property>
  <property fmtid="{D5CDD505-2E9C-101B-9397-08002B2CF9AE}" pid="5" name="MSIP_Label_a7bd41d9-d1d6-4f41-bf46-97f0241fcca2_Name">
    <vt:lpwstr>No Visual Label</vt:lpwstr>
  </property>
  <property fmtid="{D5CDD505-2E9C-101B-9397-08002B2CF9AE}" pid="6" name="MSIP_Label_a7bd41d9-d1d6-4f41-bf46-97f0241fcca2_SiteId">
    <vt:lpwstr>945c199a-83a2-4e80-9f8c-5a91be5752dd</vt:lpwstr>
  </property>
  <property fmtid="{D5CDD505-2E9C-101B-9397-08002B2CF9AE}" pid="7" name="MSIP_Label_a7bd41d9-d1d6-4f41-bf46-97f0241fcca2_ActionId">
    <vt:lpwstr>95bf4aa8-6c10-4f8e-8150-12b4daade798</vt:lpwstr>
  </property>
  <property fmtid="{D5CDD505-2E9C-101B-9397-08002B2CF9AE}" pid="8" name="MSIP_Label_a7bd41d9-d1d6-4f41-bf46-97f0241fcca2_ContentBits">
    <vt:lpwstr>0</vt:lpwstr>
  </property>
  <property fmtid="{D5CDD505-2E9C-101B-9397-08002B2CF9AE}" pid="9" name="MSIP_Label_a7bd41d9-d1d6-4f41-bf46-97f0241fcca2_Tag">
    <vt:lpwstr>10, 0, 1, 1</vt:lpwstr>
  </property>
</Properties>
</file>