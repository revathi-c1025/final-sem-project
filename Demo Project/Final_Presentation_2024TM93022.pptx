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00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1920"/>
            <a:ext cx="4572000" cy="50800"/>
          </a:xfrm>
          <a:prstGeom prst="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986784"/>
            <a:ext cx="2743200" cy="50800"/>
          </a:xfrm>
          <a:prstGeom prst="rect">
            <a:avLst/>
          </a:prstGeom>
          <a:solidFill>
            <a:srgbClr val="009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0" y="182880"/>
            <a:ext cx="1463040" cy="45720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DELL Technologies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AI-Powered Agentic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9BD4"/>
                </a:solidFill>
              </a:rPr>
              <a:t>Test Automation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14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0D4F1"/>
                </a:solidFill>
              </a:rPr>
              <a:t>for Dell OpenManage Enterprise (OME)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17520"/>
            <a:ext cx="7315200" cy="25400"/>
          </a:xfrm>
          <a:prstGeom prst="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1546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Student: Ankit Kumar  |  Roll No: 2024TM93022</a:t>
            </a:r>
          </a:p>
          <a:p>
            <a:pPr algn="l"/>
            <a:r>
              <a:rPr sz="1300" b="0">
                <a:solidFill>
                  <a:srgbClr val="647487"/>
                </a:solidFill>
              </a:rPr>
              <a:t>MTech – Artificial Intelligence &amp; ML  |  BITS Pilani</a:t>
            </a:r>
          </a:p>
          <a:p>
            <a:pPr algn="l"/>
            <a:r>
              <a:rPr sz="1300" b="0">
                <a:solidFill>
                  <a:srgbClr val="647487"/>
                </a:solidFill>
              </a:rPr>
              <a:t>MTech Final Semester Project  |  April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29200"/>
            <a:ext cx="1828800" cy="384048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Multi-Agent 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5029200"/>
            <a:ext cx="1828800" cy="384048"/>
          </a:xfrm>
          <a:prstGeom prst="roundRect">
            <a:avLst/>
          </a:prstGeom>
          <a:solidFill>
            <a:srgbClr val="009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RAG + FAISS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5029200"/>
            <a:ext cx="1828800" cy="384048"/>
          </a:xfrm>
          <a:prstGeom prst="roundRect">
            <a:avLst/>
          </a:prstGeom>
          <a:solidFill>
            <a:srgbClr val="288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qTest 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5029200"/>
            <a:ext cx="1828800" cy="384048"/>
          </a:xfrm>
          <a:prstGeom prst="round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atlas-ome-staging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5029200"/>
            <a:ext cx="1828800" cy="38404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LLM / GPT-4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49840" y="5029200"/>
            <a:ext cx="1828800" cy="384048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4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pytest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20" y="914400"/>
            <a:ext cx="3383280" cy="3840480"/>
          </a:xfrm>
          <a:prstGeom prst="roundRect">
            <a:avLst/>
          </a:prstGeom>
          <a:solidFill>
            <a:srgbClr val="00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549640" y="960120"/>
            <a:ext cx="3291840" cy="3749039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6474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41080" y="270763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47487"/>
                </a:solidFill>
              </a:rPr>
              <a:t>[System Architecture
Diagram]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8E8"/>
                </a:solidFill>
              </a:rPr>
              <a:t>AI-Powered Agentic Test Automation System  |  MTech Final Project  |  2024TM93022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5562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0C8E8"/>
                </a:solidFill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9BD4"/>
                </a:solidFill>
              </a:rPr>
              <a:t>The Problem We Are Solving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5486400" cy="512064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344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C3545"/>
                </a:solidFill>
              </a:rPr>
              <a:t>⚠  The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6916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b="0">
                <a:solidFill>
                  <a:srgbClr val="333D4B"/>
                </a:solidFill>
              </a:rPr>
              <a:t>• Dell OME has 1000s of manual test cases in qTest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33D4B"/>
                </a:solidFill>
              </a:rPr>
              <a:t>• Manual test script creation takes days per test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33D4B"/>
                </a:solidFill>
              </a:rPr>
              <a:t>• Test engineers write boilerplate code repeatedly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33D4B"/>
                </a:solidFill>
              </a:rPr>
              <a:t>• Failures go un-analyzed; re-runs are manual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33D4B"/>
                </a:solidFill>
              </a:rPr>
              <a:t>• No systematic root-cause classification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33D4B"/>
                </a:solidFill>
              </a:rPr>
              <a:t>• Atlas-OME framework changes break scripts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143000"/>
            <a:ext cx="5715000" cy="512064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7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6CE"/>
                </a:solidFill>
              </a:rPr>
              <a:t>✔  Our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916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b="0">
                <a:solidFill>
                  <a:srgbClr val="333D4B"/>
                </a:solidFill>
              </a:rPr>
              <a:t>• Fully automated end-to-end test lifecycle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33D4B"/>
                </a:solidFill>
              </a:rPr>
              <a:t>• Fetches test steps directly from qTest Manager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33D4B"/>
                </a:solidFill>
              </a:rPr>
              <a:t>• AI + Template generates executable pytest code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33D4B"/>
                </a:solidFill>
              </a:rPr>
              <a:t>• Auto-executes, captures all logs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33D4B"/>
                </a:solidFill>
              </a:rPr>
              <a:t>• FixerAgent classifies errors &amp; retries auto-fix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33D4B"/>
                </a:solidFill>
              </a:rPr>
              <a:t>• Integrates atlas-ome-staging framework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291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76CE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8E8"/>
                </a:solidFill>
              </a:rPr>
              <a:t>AI-Powered Agentic Test Automation System  |  MTech Final Project  |  2024TM93022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562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0C8E8"/>
                </a:solidFill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9BD4"/>
                </a:solidFill>
              </a:rPr>
              <a:t>Prior Work &amp; Research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3749039" cy="214884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16152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Multi-Agent Systems
(Wooldridge, 2009)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56232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Foundation: cooperative agent architectures for complex tasks.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143000"/>
            <a:ext cx="3749039" cy="2148840"/>
          </a:xfrm>
          <a:prstGeom prst="roundRect">
            <a:avLst/>
          </a:prstGeom>
          <a:solidFill>
            <a:srgbClr val="009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216152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LLM-Based Code Gen
(Chen et al. – Codex, 2021)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856232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GPT models generate syntactically correct code from natural language.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143000"/>
            <a:ext cx="3749039" cy="2148840"/>
          </a:xfrm>
          <a:prstGeom prst="round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216152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RAG for QA
(Lewis et al., 2020)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856232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Retrieval-Augmented Generation improves context-aware generation.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474720"/>
            <a:ext cx="3749039" cy="21488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547872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ATC Surveys
(Harman, 2012; Anand, 2013)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187952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Search-based &amp; model-based test automation; no LLM integration.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3474720"/>
            <a:ext cx="3749039" cy="21488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3547872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TestPilot / CodaMosa
(2023)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187952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LLM-guided test generation for open-source codebases.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3474720"/>
            <a:ext cx="3749039" cy="2148840"/>
          </a:xfrm>
          <a:prstGeom prst="roundRect">
            <a:avLst/>
          </a:prstGeom>
          <a:solidFill>
            <a:srgbClr val="C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3547872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Self-Healing Tests
(Leotta et al.,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187952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Auto-repair of brittle UI tests; limited to locator fixes.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5715000"/>
            <a:ext cx="11612880" cy="685800"/>
          </a:xfrm>
          <a:prstGeom prst="roundRect">
            <a:avLst/>
          </a:prstGeom>
          <a:solidFill>
            <a:srgbClr val="FFF3CD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576072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D4B"/>
                </a:solidFill>
              </a:rPr>
              <a:t>Research Gap  →  No existing system combines: qTest fetching + atlas-ome-staging framework + LLM generation + agentic auto-fix in a single pipeline for enterprise hardware management systems.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8E8"/>
                </a:solidFill>
              </a:rPr>
              <a:t>AI-Powered Agentic Test Automation System  |  MTech Final Project  |  2024TM93022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5562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0C8E8"/>
                </a:solidFill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System Architecture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9BD4"/>
                </a:solidFill>
              </a:rPr>
              <a:t>Five Cooperating Agents Orchestrated by a Master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1143000"/>
            <a:ext cx="3931920" cy="960120"/>
          </a:xfrm>
          <a:prstGeom prst="round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0" y="1188720"/>
            <a:ext cx="3749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🎯  OrchestratorAgent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600200"/>
            <a:ext cx="3749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009BD4"/>
                </a:solidFill>
              </a:rPr>
              <a:t>Coordinates full pipeline: Fetch→Generate→Execute→Fix→Report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423160"/>
            <a:ext cx="2514600" cy="141732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468880"/>
            <a:ext cx="2423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QTestAgent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715768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Reads TC steps
from qTest Manager
REST 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54276" y="2103120"/>
            <a:ext cx="50800" cy="320040"/>
          </a:xfrm>
          <a:prstGeom prst="rect">
            <a:avLst/>
          </a:prstGeom>
          <a:solidFill>
            <a:srgbClr val="333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65576" y="2423160"/>
            <a:ext cx="2514600" cy="1417320"/>
          </a:xfrm>
          <a:prstGeom prst="roundRect">
            <a:avLst/>
          </a:prstGeom>
          <a:solidFill>
            <a:srgbClr val="009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1296" y="2468880"/>
            <a:ext cx="2423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TestGenerator
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1296" y="2715768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Converts steps
to pytest code
(LLM / Template)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97476" y="2103120"/>
            <a:ext cx="50800" cy="320040"/>
          </a:xfrm>
          <a:prstGeom prst="rect">
            <a:avLst/>
          </a:prstGeom>
          <a:solidFill>
            <a:srgbClr val="333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8776" y="2423160"/>
            <a:ext cx="2514600" cy="1417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2468880"/>
            <a:ext cx="2423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TestExecutor
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4496" y="2715768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Runs tests via
pytest, captures
stdout/stderr/logs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40676" y="2103120"/>
            <a:ext cx="50800" cy="320040"/>
          </a:xfrm>
          <a:prstGeom prst="rect">
            <a:avLst/>
          </a:prstGeom>
          <a:solidFill>
            <a:srgbClr val="333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951976" y="2423160"/>
            <a:ext cx="2514600" cy="141732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97696" y="2468880"/>
            <a:ext cx="2423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FixerAgent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2715768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Classifies failures
&amp; determines
fix strategies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83876" y="2103120"/>
            <a:ext cx="50800" cy="320040"/>
          </a:xfrm>
          <a:prstGeom prst="rect">
            <a:avLst/>
          </a:prstGeom>
          <a:solidFill>
            <a:srgbClr val="333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36976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33D4B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0176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33D4B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23376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33D4B"/>
                </a:solidFill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8600" y="2423160"/>
            <a:ext cx="2011680" cy="77724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2468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qTest Manager
(Dell ESG)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8600" y="4114800"/>
            <a:ext cx="2011680" cy="777240"/>
          </a:xfrm>
          <a:prstGeom prst="roundRect">
            <a:avLst/>
          </a:prstGeom>
          <a:solidFill>
            <a:srgbClr val="009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416052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atlas-ome-staging
Framework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2423160"/>
            <a:ext cx="2011680" cy="777240"/>
          </a:xfrm>
          <a:prstGeom prst="round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38360" y="2468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LLM / GPT-4
(Optional)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4114800"/>
            <a:ext cx="2011680" cy="777240"/>
          </a:xfrm>
          <a:prstGeom prst="round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38360" y="416052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OME Appliance
(Target System)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3977639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2B5C"/>
                </a:solidFill>
              </a:rPr>
              <a:t>Pipeline:  1. Fetch  →  2. Generate  →  3. Execute  →  4. Analyze &amp; Fix  →  5. Report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44805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33D4B"/>
                </a:solidFill>
              </a:rPr>
              <a:t>Outputs: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645920" y="4480560"/>
            <a:ext cx="2011680" cy="685800"/>
          </a:xfrm>
          <a:prstGeom prst="roundRect">
            <a:avLst/>
          </a:prstGeom>
          <a:solidFill>
            <a:srgbClr val="006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91640" y="4498848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Generated
pytest Files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77639" y="4480560"/>
            <a:ext cx="2011680" cy="685800"/>
          </a:xfrm>
          <a:prstGeom prst="roundRect">
            <a:avLst/>
          </a:prstGeom>
          <a:solidFill>
            <a:srgbClr val="006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59" y="4498848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Execution
Logs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60" y="4480560"/>
            <a:ext cx="2011680" cy="685800"/>
          </a:xfrm>
          <a:prstGeom prst="roundRect">
            <a:avLst/>
          </a:prstGeom>
          <a:solidFill>
            <a:srgbClr val="006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5080" y="4498848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JSON + HTML
Reports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41080" y="4480560"/>
            <a:ext cx="2011680" cy="685800"/>
          </a:xfrm>
          <a:prstGeom prst="roundRect">
            <a:avLst/>
          </a:prstGeom>
          <a:solidFill>
            <a:srgbClr val="006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0" y="4498848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Auto-Fixed
Test Code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8E8"/>
                </a:solidFill>
              </a:rPr>
              <a:t>AI-Powered Agentic Test Automation System  |  MTech Final Project  |  2024TM93022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0" y="65562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0C8E8"/>
                </a:solidFill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Research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9BD4"/>
                </a:solidFill>
              </a:rPr>
              <a:t>Design Science + Agile Iterative Development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1463040" cy="91440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34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1887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6CE"/>
                </a:solidFill>
              </a:rPr>
              <a:t>Requirements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5087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Identified gaps in enterprise test automation for OME/Atlas-OME framework.
Analyzed qTest API, atlas-ome-staging codebase, existing test patterns.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6CE"/>
                </a:solidFill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2194560"/>
            <a:ext cx="1463040" cy="914400"/>
          </a:xfrm>
          <a:prstGeom prst="roundRect">
            <a:avLst/>
          </a:prstGeom>
          <a:solidFill>
            <a:srgbClr val="009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286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2402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BD4"/>
                </a:solidFill>
              </a:rPr>
              <a:t>System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56032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Designed multi-agent architecture.
Defined agent contracts, data models, retry loop, RAG knowledge base schema.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0896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9BD4"/>
                </a:solidFill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46120"/>
            <a:ext cx="1463040" cy="9144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3375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2918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8A745"/>
                </a:solidFill>
              </a:rPr>
              <a:t>Demo Prototype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61188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Built ShopEasy e-commerce demo (mirrors OME API patterns).
Validated pipeline with 10 mock test cases — all PASSED.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16052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8A745"/>
                </a:solidFill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4297680"/>
            <a:ext cx="1463040" cy="91440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3891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Phase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343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OME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6634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Integrated real qTest Manager API (TC-174995, TC-180015).
Connected atlas-ome-staging framework; TC PASSED on real OME appliance.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1208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35"/>
                </a:solidFill>
              </a:rP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5349240"/>
            <a:ext cx="1463040" cy="914400"/>
          </a:xfrm>
          <a:prstGeom prst="roundRect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54406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Phase 5 (Pending)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47487"/>
                </a:solidFill>
              </a:rPr>
              <a:t>Full Scale Testing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7150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Expand to 50+ TCs, LLM-guided generation, performance benchmarks, final evaluation.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1143000"/>
            <a:ext cx="6126480" cy="5120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12344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2B5C"/>
                </a:solidFill>
              </a:rPr>
              <a:t>Evaluation Criteria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0" y="1691640"/>
            <a:ext cx="57607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0" y="1737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6CE"/>
                </a:solidFill>
              </a:rPr>
              <a:t>✔ Correctness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176479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D4B"/>
                </a:solidFill>
              </a:rPr>
              <a:t>Generated test syntax valid &amp; executable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0" y="2404872"/>
            <a:ext cx="57607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5040" y="24505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6CE"/>
                </a:solidFill>
              </a:rPr>
              <a:t>✔ Coverage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2478024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D4B"/>
                </a:solidFill>
              </a:rPr>
              <a:t>Steps mapped to correct framework calls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0" y="3118104"/>
            <a:ext cx="57607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0" y="31638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6CE"/>
                </a:solidFill>
              </a:rPr>
              <a:t>✔ Reliability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319125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D4B"/>
                </a:solidFill>
              </a:rPr>
              <a:t>Auto-fix reduces failures across retries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3831336"/>
            <a:ext cx="57607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35040" y="387705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6CE"/>
                </a:solidFill>
              </a:rPr>
              <a:t>✔ Speed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39044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D4B"/>
                </a:solidFill>
              </a:rPr>
              <a:t>Pipeline completes within acceptable time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0" y="4544568"/>
            <a:ext cx="57607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45902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6CE"/>
                </a:solidFill>
              </a:rPr>
              <a:t>✔ Scalability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46177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D4B"/>
                </a:solidFill>
              </a:rPr>
              <a:t>Handles batch of multiple test cases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0" y="5257800"/>
            <a:ext cx="57607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35040" y="53035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6CE"/>
                </a:solidFill>
              </a:rPr>
              <a:t>✔ Integration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533095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D4B"/>
                </a:solidFill>
              </a:rPr>
              <a:t>Works with real qTest + OME appliance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8E8"/>
                </a:solidFill>
              </a:rPr>
              <a:t>AI-Powered Agentic Test Automation System  |  MTech Final Project  |  2024TM93022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0" y="65562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0C8E8"/>
                </a:solidFill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AI / ML &amp; RAG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9BD4"/>
                </a:solidFill>
              </a:rPr>
              <a:t>How Intelligence Is Built Into the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3657600" cy="2560320"/>
          </a:xfrm>
          <a:prstGeom prst="roundRect">
            <a:avLst/>
          </a:prstGeom>
          <a:solidFill>
            <a:srgbClr val="F3E8FF"/>
          </a:solidFill>
          <a:ln w="1270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344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A0DAD"/>
                </a:solidFill>
              </a:rPr>
              <a:t>🤖  LLM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69164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Model: GPT-4 (OpenAI / Azure)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Role: Context-aware test code generation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Input: TC steps + RAG context + error info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Output: Valid pytest module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Fallback: Template engine (no API key needed)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Temperature: 0.2 (deterministic output)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143000"/>
            <a:ext cx="3931920" cy="2560320"/>
          </a:xfrm>
          <a:prstGeom prst="roundRect">
            <a:avLst/>
          </a:prstGeom>
          <a:solidFill>
            <a:srgbClr val="E8F5FF"/>
          </a:solidFill>
          <a:ln w="12700">
            <a:solidFill>
              <a:srgbClr val="007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234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6CE"/>
                </a:solidFill>
              </a:rPr>
              <a:t>📚  RAG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9164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Embedding: all-MiniLM-L6-v2 (384-dim)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Vector DB: FAISS (IndexFlatL2)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Knowledge Base: atlas-ome test patterns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Chunk size: 500 tokens, overlap: 50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Retrieval: Top-3 nearest neighbours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Context injected into LLM prompt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1143000"/>
            <a:ext cx="3383280" cy="2560320"/>
          </a:xfrm>
          <a:prstGeom prst="roundRect">
            <a:avLst/>
          </a:prstGeom>
          <a:solidFill>
            <a:srgbClr val="E8FFEE"/>
          </a:solidFill>
          <a:ln w="127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41080" y="12344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8A745"/>
                </a:solidFill>
              </a:rPr>
              <a:t>🧠 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69164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Knowledge base: .txt/.json files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FAISS index persisted to disk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Event log per agent (in-memory)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Fix history tracked by FixerAgent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Retry state managed by Orchestrator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3D4B"/>
                </a:solidFill>
              </a:rPr>
              <a:t>• Reports: JSON + HTML (persistent)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8404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2B5C"/>
                </a:solidFill>
              </a:rPr>
              <a:t>Data Flow Through AI/ML Pipeline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4297680"/>
            <a:ext cx="1783080" cy="77724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343400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qTest TC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6544" y="44348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D4B"/>
                </a:solidFill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40280" y="4297680"/>
            <a:ext cx="1783080" cy="777240"/>
          </a:xfrm>
          <a:prstGeom prst="roundRect">
            <a:avLst/>
          </a:prstGeom>
          <a:solidFill>
            <a:srgbClr val="009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4343400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RAG Context
Retrieval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32504" y="44348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D4B"/>
                </a:solidFill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4297680"/>
            <a:ext cx="1783080" cy="777240"/>
          </a:xfrm>
          <a:prstGeom prst="round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60" y="4343400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Prompt
Construction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98464" y="44348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D4B"/>
                </a:solidFill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297680"/>
            <a:ext cx="1783080" cy="7772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4343400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Test Code
Generation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64424" y="44348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D4B"/>
                </a:solidFill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4297680"/>
            <a:ext cx="1783080" cy="7772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343400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Execution
&amp; Analysis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30384" y="44348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D4B"/>
                </a:solidFill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04120" y="4297680"/>
            <a:ext cx="1783080" cy="77724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0" y="4343400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Auto-Fix
&amp; Retry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5257800"/>
            <a:ext cx="11612880" cy="685800"/>
          </a:xfrm>
          <a:prstGeom prst="roundRect">
            <a:avLst/>
          </a:prstGeom>
          <a:solidFill>
            <a:srgbClr val="FFF3CD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532180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D4B"/>
                </a:solidFill>
              </a:rPr>
              <a:t>Demo Equivalents:  ShopEasy mock API  ≡  OME REST API  |  standalone_framework.py  ≡  atlas-ome-staging  |  FAISS disabled in demo (Windows paging issue – workaround implemented)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8E8"/>
                </a:solidFill>
              </a:rPr>
              <a:t>AI-Powered Agentic Test Automation System  |  MTech Final Project  |  2024TM93022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5562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0C8E8"/>
                </a:solidFill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Test Generation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9BD4"/>
                </a:solidFill>
              </a:rPr>
              <a:t>From qTest Steps → Executable pytest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2103120" cy="155448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234440"/>
            <a:ext cx="19568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1. Fetch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572768"/>
            <a:ext cx="195681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QTestAgent reads TC
steps via REST API
/test-cases/{id}/test-steps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173736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33D4B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1188720"/>
            <a:ext cx="2103120" cy="1554480"/>
          </a:xfrm>
          <a:prstGeom prst="roundRect">
            <a:avLst/>
          </a:prstGeom>
          <a:solidFill>
            <a:srgbClr val="009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1234440"/>
            <a:ext cx="19568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2. Classify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3472" y="1572768"/>
            <a:ext cx="195681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Keywords mapped to
framework methods
(regex classifier)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173736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33D4B"/>
                </a:solidFill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1188720"/>
            <a:ext cx="2103120" cy="1554480"/>
          </a:xfrm>
          <a:prstGeom prst="round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9472" y="1234440"/>
            <a:ext cx="19568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3. RAG Lookup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9472" y="1572768"/>
            <a:ext cx="195681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Retrieve similar
past test patterns
from knowledge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173736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33D4B"/>
                </a:solidFill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1188720"/>
            <a:ext cx="2103120" cy="15544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234440"/>
            <a:ext cx="19568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4. Generate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5472" y="1572768"/>
            <a:ext cx="195681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LLM / Template
produces OmeBaseFunctional
TestCase class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173736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33D4B"/>
                </a:solidFill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18320" y="1188720"/>
            <a:ext cx="2103120" cy="155448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91472" y="1234440"/>
            <a:ext cx="19568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5. Write File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1472" y="1572768"/>
            <a:ext cx="195681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Stable filename
test_TC_XXXXX.py
(overwrites on retry)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29260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2B5C"/>
                </a:solidFill>
              </a:rPr>
              <a:t>Generated Test Structure (OmeBaseFunctionalTestCase)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3337560"/>
            <a:ext cx="7132320" cy="2834640"/>
          </a:xfrm>
          <a:prstGeom prst="roundRect">
            <a:avLst/>
          </a:prstGeom>
          <a:solidFill>
            <a:srgbClr val="333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383280"/>
            <a:ext cx="694944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A8D8FF"/>
                </a:solidFill>
              </a:rPr>
              <a:t>@pytest.mark.Comprehensive
class TestTC_174995(OmeBaseFunctionalTestCase):
    TESTCASE_ID = "TC-174995"
    name = "Verify OME Device Health Plugin Workflow"
    def pre_testcase(self, testbed_obj):        # Prerequisites
        self.ome_system = testbed_obj.ome_system
    def run_test(self, testbed):                # Step implementations
        LOGGER.tc_step(1, "Install Plugins")
        PluginServiceTask.get_plugins_details(self.ome_system)
        ...
        LOGGER.tc_step(3, "Discover Devices")
        DiscoveryConfig.add_devices(self.ome_system, device_ips)
        DiscoveryTask.create_discovery_request(self.ome_system, config)
    def post_testcase(self):                    # Cleanup
        GroupServiceTask.delete_group(self.ome_system, group_id)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0" y="3337560"/>
            <a:ext cx="4297680" cy="2834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79" y="3401568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2B5C"/>
                </a:solidFill>
              </a:rPr>
              <a:t>Framework Classes Used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79" y="3794760"/>
            <a:ext cx="4023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D4B"/>
                </a:solidFill>
              </a:rPr>
              <a:t>• DiscoveryConfig / DiscoveryTask</a:t>
            </a:r>
          </a:p>
          <a:p>
            <a:pPr algn="l"/>
            <a:r>
              <a:rPr sz="1100" b="0">
                <a:solidFill>
                  <a:srgbClr val="333D4B"/>
                </a:solidFill>
              </a:rPr>
              <a:t>• PluginServiceTask</a:t>
            </a:r>
          </a:p>
          <a:p>
            <a:pPr algn="l"/>
            <a:r>
              <a:rPr sz="1100" b="0">
                <a:solidFill>
                  <a:srgbClr val="333D4B"/>
                </a:solidFill>
              </a:rPr>
              <a:t>• ApplicationServiceTask / ApplicationService</a:t>
            </a:r>
          </a:p>
          <a:p>
            <a:pPr algn="l"/>
            <a:r>
              <a:rPr sz="1100" b="0">
                <a:solidFill>
                  <a:srgbClr val="333D4B"/>
                </a:solidFill>
              </a:rPr>
              <a:t>• GroupServiceTask</a:t>
            </a:r>
          </a:p>
          <a:p>
            <a:pPr algn="l"/>
            <a:r>
              <a:rPr sz="1100" b="0">
                <a:solidFill>
                  <a:srgbClr val="333D4B"/>
                </a:solidFill>
              </a:rPr>
              <a:t>• DeviceServiceTask</a:t>
            </a:r>
          </a:p>
          <a:p>
            <a:pPr algn="l"/>
            <a:r>
              <a:rPr sz="1100" b="0">
                <a:solidFill>
                  <a:srgbClr val="333D4B"/>
                </a:solidFill>
              </a:rPr>
              <a:t>• ConsoleServiceTask (SCOM/SCVMM)</a:t>
            </a:r>
          </a:p>
          <a:p>
            <a:pPr algn="l"/>
            <a:r>
              <a:rPr sz="1100" b="0">
                <a:solidFill>
                  <a:srgbClr val="333D4B"/>
                </a:solidFill>
              </a:rPr>
              <a:t>• JobHelper / JobServiceTask</a:t>
            </a:r>
          </a:p>
          <a:p>
            <a:pPr algn="l"/>
            <a:r>
              <a:rPr sz="1100" b="0">
                <a:solidFill>
                  <a:srgbClr val="333D4B"/>
                </a:solidFill>
              </a:rPr>
              <a:t>• OmeBaseFunctionalTestCase (Base)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8E8"/>
                </a:solidFill>
              </a:rPr>
              <a:t>AI-Powered Agentic Test Automation System  |  MTech Final Project  |  2024TM93022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5562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0C8E8"/>
                </a:solidFill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Auto-Fix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9BD4"/>
                </a:solidFill>
              </a:rPr>
              <a:t>FixerAgent: Intelligent Failure Classification &amp; Retry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4114800" cy="52120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3444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2B5C"/>
                </a:solidFill>
              </a:rPr>
              <a:t>Retry Loop (max 3 retries)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37360"/>
            <a:ext cx="3383280" cy="86868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2880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Execute Test
(pytest)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3347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D4B"/>
                </a:solidFill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3383280" cy="8686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2608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PASS?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73075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D4B"/>
                </a:solidFill>
              </a:rPr>
              <a:t>No →↓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383280" cy="86868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02336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FixerAgent
Analyze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82803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D4B"/>
                </a:solidFill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3383280" cy="868680"/>
          </a:xfrm>
          <a:prstGeom prst="roundRect">
            <a:avLst/>
          </a:prstGeom>
          <a:solidFill>
            <a:srgbClr val="009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12064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Regenerate
Test Code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943600"/>
            <a:ext cx="3383280" cy="41148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989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Mark FAILED (max retries reached)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143000"/>
            <a:ext cx="7132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2B5C"/>
                </a:solidFill>
              </a:rPr>
              <a:t>Error Classification Matrix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600200"/>
            <a:ext cx="6858000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1636776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Error Class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636776"/>
            <a:ext cx="1828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Trigger Pattern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1636776"/>
            <a:ext cx="20116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Fix Strategy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1636776"/>
            <a:ext cx="1097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Confidence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0" y="1920240"/>
            <a:ext cx="6858000" cy="4389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19659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import_error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19659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ModuleNotFoundError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19659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Add missing import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19659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0.90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292840" y="2011680"/>
            <a:ext cx="228600" cy="2286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54880" y="2377440"/>
            <a:ext cx="68580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0600" y="24231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syntax_error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423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SyntaxError / IndentError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24231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Fix syntax in generated code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69880" y="24231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0.90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92840" y="2468880"/>
            <a:ext cx="228600" cy="2286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54880" y="2834640"/>
            <a:ext cx="6858000" cy="4389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00600" y="28803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ssl_error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28803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SSLError / Cert verify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28803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Disable SSL 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69880" y="28803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0.90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292840" y="2926080"/>
            <a:ext cx="228600" cy="2286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754880" y="3291840"/>
            <a:ext cx="68580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00600" y="33375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connection_error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33375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ConnectionError / Timeout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3375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Add retry + timeout logic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69880" y="33375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0.80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292840" y="3383280"/>
            <a:ext cx="228600" cy="228600"/>
          </a:xfrm>
          <a:prstGeom prst="roundRect">
            <a:avLst/>
          </a:prstGeom>
          <a:solidFill>
            <a:srgbClr val="009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754880" y="3749040"/>
            <a:ext cx="6858000" cy="4389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00600" y="37947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auth_error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37947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401 / 403 / Unauthorized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66760" y="3794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Fix auth headers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69880" y="37947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0.70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292840" y="3840480"/>
            <a:ext cx="228600" cy="22860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54880" y="4206240"/>
            <a:ext cx="68580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00600" y="42519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assertion_error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46520" y="42519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AssertionError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66760" y="42519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Soften assertion / fix logic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69880" y="42519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0.70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292840" y="4297680"/>
            <a:ext cx="228600" cy="22860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54880" y="4663440"/>
            <a:ext cx="6858000" cy="4389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800600" y="47091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timeout_error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46520" y="4709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TimeoutError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66760" y="47091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Increase timeout to 600s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69880" y="47091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0.80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292840" y="4754880"/>
            <a:ext cx="228600" cy="228600"/>
          </a:xfrm>
          <a:prstGeom prst="roundRect">
            <a:avLst/>
          </a:prstGeom>
          <a:solidFill>
            <a:srgbClr val="009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754880" y="5120640"/>
            <a:ext cx="68580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00600" y="51663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attribute_error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46520" y="51663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AttributeError / KeyError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66760" y="51663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Fix key/attribute access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69880" y="51663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0.80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292840" y="5212080"/>
            <a:ext cx="228600" cy="228600"/>
          </a:xfrm>
          <a:prstGeom prst="roundRect">
            <a:avLst/>
          </a:prstGeom>
          <a:solidFill>
            <a:srgbClr val="009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54880" y="5577840"/>
            <a:ext cx="6858000" cy="4389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800600" y="56235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unknown_error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46520" y="56235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Any other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66760" y="56235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Full regeneration fallback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69880" y="56235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D4B"/>
                </a:solidFill>
              </a:rPr>
              <a:t>0.50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1292840" y="5669280"/>
            <a:ext cx="228600" cy="22860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8E8"/>
                </a:solidFill>
              </a:rPr>
              <a:t>AI-Powered Agentic Test Automation System  |  MTech Final Project  |  2024TM93022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430000" y="65562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0C8E8"/>
                </a:solidFill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Demo — Web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9BD4"/>
                </a:solidFill>
              </a:rPr>
              <a:t>Flask UI running at http://localhost:5001  |  ShopEasy ≡ OME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411480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3444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6CE"/>
                </a:solidFill>
              </a:rPr>
              <a:t>Web UI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3840480" cy="6858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009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7393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2B5C"/>
                </a:solidFill>
              </a:rPr>
              <a:t>Fetch Test Cases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5740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7"/>
                </a:solidFill>
              </a:rPr>
              <a:t>Load TCs from qTest or local JSON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560320"/>
            <a:ext cx="3840480" cy="6858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009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968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2B5C"/>
                </a:solidFill>
              </a:rPr>
              <a:t>Generate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8036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7"/>
                </a:solidFill>
              </a:rPr>
              <a:t>Select TCs → generate pytest scripts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83280"/>
            <a:ext cx="3840480" cy="6858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009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41985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2B5C"/>
                </a:solidFill>
              </a:rPr>
              <a:t>Run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70332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7"/>
                </a:solidFill>
              </a:rPr>
              <a:t>Execute + auto-fix + retry 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4206240"/>
            <a:ext cx="3840480" cy="6858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009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24281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2B5C"/>
                </a:solidFill>
              </a:rPr>
              <a:t>View Reports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52628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7"/>
                </a:solidFill>
              </a:rPr>
              <a:t>JSON &amp; HTML reports with pass/fail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029200"/>
            <a:ext cx="3840480" cy="6858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009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06577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2B5C"/>
                </a:solidFill>
              </a:rPr>
              <a:t>View Logs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34924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7"/>
                </a:solidFill>
              </a:rPr>
              <a:t>Per-attempt execution logs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5897880"/>
            <a:ext cx="3840480" cy="411480"/>
          </a:xfrm>
          <a:prstGeom prst="roundRect">
            <a:avLst/>
          </a:prstGeom>
          <a:solidFill>
            <a:srgbClr val="FFF3CD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943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Known: Web UI uses old cache (workaround: CLI mode)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1143000"/>
            <a:ext cx="7406640" cy="32004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6474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0" y="2616200"/>
            <a:ext cx="7223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47487"/>
                </a:solidFill>
              </a:rPr>
              <a:t>[Screenshot: Flask Web UI – Dashboard / Test List]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4480560"/>
            <a:ext cx="3566160" cy="1920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6474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53136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47487"/>
                </a:solidFill>
              </a:rPr>
              <a:t>[Screenshot: HTML Report]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480560"/>
            <a:ext cx="3657600" cy="1920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6474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53136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47487"/>
                </a:solidFill>
              </a:rPr>
              <a:t>[Screenshot: Run Pipeline Output]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8E8"/>
                </a:solidFill>
              </a:rPr>
              <a:t>AI-Powered Agentic Test Automation System  |  MTech Final Project  |  2024TM93022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5562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0C8E8"/>
                </a:solidFill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Demo — Test Generation &amp;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9BD4"/>
                </a:solidFill>
              </a:rPr>
              <a:t>10 ShopEasy TCs Generated &amp; Executed | All PASSED in &lt; 1s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320040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3444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2B5C"/>
                </a:solidFill>
              </a:rPr>
              <a:t>Demo Test Cases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691640"/>
            <a:ext cx="2926080" cy="3657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282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76CE"/>
                </a:solidFill>
              </a:rPr>
              <a:t>TC-001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72821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Product Creation Smoke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728216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8A745"/>
                </a:solidFill>
              </a:rPr>
              <a:t>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112264"/>
            <a:ext cx="2926080" cy="365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488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76CE"/>
                </a:solidFill>
              </a:rPr>
              <a:t>TC-002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1488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Product Search &amp; Filter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14884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8A745"/>
                </a:solidFill>
              </a:rPr>
              <a:t>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532888"/>
            <a:ext cx="2926080" cy="3657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56946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76CE"/>
                </a:solidFill>
              </a:rPr>
              <a:t>TC-003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56946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Category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2569464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8A745"/>
                </a:solidFill>
              </a:rPr>
              <a:t>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2953512"/>
            <a:ext cx="2926080" cy="365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99008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76CE"/>
                </a:solidFill>
              </a:rPr>
              <a:t>TC-004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299008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Shopping Cart 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299008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8A745"/>
                </a:solidFill>
              </a:rPr>
              <a:t>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374136"/>
            <a:ext cx="2926080" cy="3657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41071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76CE"/>
                </a:solidFill>
              </a:rPr>
              <a:t>TC-005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41071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Order Processing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341071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8A745"/>
                </a:solidFill>
              </a:rPr>
              <a:t>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3794760"/>
            <a:ext cx="2926080" cy="365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83133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76CE"/>
                </a:solidFill>
              </a:rPr>
              <a:t>TC-006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383133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User Registration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54680" y="3831336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8A745"/>
                </a:solidFill>
              </a:rPr>
              <a:t>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4215384"/>
            <a:ext cx="2926080" cy="3657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251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76CE"/>
                </a:solidFill>
              </a:rPr>
              <a:t>TC-007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42519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Product Updates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54680" y="425196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8A745"/>
                </a:solidFill>
              </a:rPr>
              <a:t>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4636008"/>
            <a:ext cx="2926080" cy="365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6725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76CE"/>
                </a:solidFill>
              </a:rPr>
              <a:t>TC-008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467258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Inventory Management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54680" y="4672584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8A745"/>
                </a:solidFill>
              </a:rPr>
              <a:t>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480" y="5056632"/>
            <a:ext cx="2926080" cy="3657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509320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76CE"/>
                </a:solidFill>
              </a:rPr>
              <a:t>TC-009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509320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Catalog Synchronisation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54680" y="509320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8A745"/>
                </a:solidFill>
              </a:rPr>
              <a:t>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1480" y="5477256"/>
            <a:ext cx="2926080" cy="365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551383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76CE"/>
                </a:solidFill>
              </a:rPr>
              <a:t>TC-010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551383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Regression Suite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54680" y="551383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8A745"/>
                </a:solidFill>
              </a:rPr>
              <a:t>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0" y="1143000"/>
            <a:ext cx="4754880" cy="52120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6474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49040" y="3622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47487"/>
                </a:solidFill>
              </a:rPr>
              <a:t>[Screenshot: py run_demo.py console output
showing 10 tests PASSED]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0" y="1143000"/>
            <a:ext cx="3291840" cy="2560320"/>
          </a:xfrm>
          <a:prstGeom prst="roundRect">
            <a:avLst/>
          </a:prstGeom>
          <a:solidFill>
            <a:srgbClr val="333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32520" y="120700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BD4"/>
                </a:solidFill>
              </a:rPr>
              <a:t>pytest output (demo)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32520" y="1554480"/>
            <a:ext cx="30175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28A745"/>
                </a:solidFill>
              </a:rPr>
              <a:t>generated_tests/test_TC_001.py  PASSED
generated_tests/test_TC_002.py  PASSED
generated_tests/test_TC_003.py  PASSED
...
generated_tests/test_TC_010.py  PASSED
==============================
10 passed in 0.19s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595360" y="3931920"/>
            <a:ext cx="749808" cy="114300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95360" y="4041648"/>
            <a:ext cx="74980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95360" y="4498848"/>
            <a:ext cx="7498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Test Cases
Generated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418320" y="3931920"/>
            <a:ext cx="749808" cy="11430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18320" y="4041648"/>
            <a:ext cx="74980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4498848"/>
            <a:ext cx="7498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Tests
PASSED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41280" y="3931920"/>
            <a:ext cx="749808" cy="1143000"/>
          </a:xfrm>
          <a:prstGeom prst="roundRect">
            <a:avLst/>
          </a:prstGeom>
          <a:solidFill>
            <a:srgbClr val="009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241280" y="4041648"/>
            <a:ext cx="74980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0.19s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41280" y="4498848"/>
            <a:ext cx="7498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Execution
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064240" y="3931920"/>
            <a:ext cx="749808" cy="11430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064240" y="4041648"/>
            <a:ext cx="74980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64240" y="4498848"/>
            <a:ext cx="7498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Failures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595360" y="5212080"/>
            <a:ext cx="3291840" cy="1143000"/>
          </a:xfrm>
          <a:prstGeom prst="roundRect">
            <a:avLst/>
          </a:prstGeom>
          <a:solidFill>
            <a:srgbClr val="E8F5FF"/>
          </a:solidFill>
          <a:ln w="12700">
            <a:solidFill>
              <a:srgbClr val="007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86800" y="52578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6CE"/>
                </a:solidFill>
              </a:rPr>
              <a:t>Real OME Results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557784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8A745"/>
                </a:solidFill>
              </a:rPr>
              <a:t>TC-174995  PASSED  (1.63s, attempt 1)</a:t>
            </a:r>
          </a:p>
          <a:p>
            <a:pPr algn="l"/>
            <a:r>
              <a:rPr sz="1000" b="0">
                <a:solidFill>
                  <a:srgbClr val="28A745"/>
                </a:solidFill>
              </a:rPr>
              <a:t>TC-180015  PASSED  (192.5s, attempt 1)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8E8"/>
                </a:solidFill>
              </a:rPr>
              <a:t>AI-Powered Agentic Test Automation System  |  MTech Final Project  |  2024TM93022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30000" y="65562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0C8E8"/>
                </a:solidFill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Challenges Faced &amp; How We Fixed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9BD4"/>
                </a:solidFill>
              </a:rPr>
              <a:t>Real Issues Encountered During Development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5715000" cy="1691640"/>
          </a:xfrm>
          <a:prstGeom prst="roundRect">
            <a:avLst/>
          </a:prstGeom>
          <a:solidFill>
            <a:srgbClr val="F8F8F8"/>
          </a:solidFill>
          <a:ln w="127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C3545"/>
                </a:solidFill>
              </a:rPr>
              <a:t>1. Atlas Framework Import Failure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1188720"/>
            <a:ext cx="68580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207008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FIXED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45336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Problem: atlas_framework (internal Dell pkg) not pip-installable.
ModuleNotFoundError on every generated test.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1488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8A745"/>
                </a:solidFill>
              </a:rPr>
              <a:t>Fix: Created OmeApiClient as standalone REST wrapper.
Tests skip gracefully with _FRAMEWORK_AVAILABLE guard.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143000"/>
            <a:ext cx="5715000" cy="1691640"/>
          </a:xfrm>
          <a:prstGeom prst="roundRect">
            <a:avLst/>
          </a:prstGeom>
          <a:solidFill>
            <a:srgbClr val="F8F8F8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6B35"/>
                </a:solidFill>
              </a:rPr>
              <a:t>2. RAG System OOM on Windows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55680" y="1188720"/>
            <a:ext cx="685800" cy="27432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0" y="1207008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WORKAROUND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545336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Problem: SentenceTransformer + FAISS exhausted Windows paging file.
Error: 'paging file too small for this operation'.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1488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8A745"/>
                </a:solidFill>
              </a:rPr>
              <a:t>Fix: Temporarily disabled RAG in app.py for demo.
Core generation still works via template engine.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2971800"/>
            <a:ext cx="5715000" cy="1691640"/>
          </a:xfrm>
          <a:prstGeom prst="roundRect">
            <a:avLst/>
          </a:prstGeom>
          <a:solidFill>
            <a:srgbClr val="F8F8F8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017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6B35"/>
                </a:solidFill>
              </a:rPr>
              <a:t>3. Web UI Module Caching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12080" y="3017520"/>
            <a:ext cx="685800" cy="27432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3035808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WORKAROUND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74136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Problem: Flask caches old shopease_framework even after code change.
New SimpleTestGenerator not picked up at runtime.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9776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8A745"/>
                </a:solidFill>
              </a:rPr>
              <a:t>Fix: Used CLI mode (py run_demo.py) for demo.
Planned: subprocess isolation + fresh venv.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971800"/>
            <a:ext cx="5715000" cy="1691640"/>
          </a:xfrm>
          <a:prstGeom prst="roundRect">
            <a:avLst/>
          </a:prstGeom>
          <a:solidFill>
            <a:srgbClr val="F8F8F8"/>
          </a:solidFill>
          <a:ln w="127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017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C3545"/>
                </a:solidFill>
              </a:rPr>
              <a:t>4. Static Group parent_id Wrong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155680" y="3017520"/>
            <a:ext cx="68580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0" y="3035808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FIXED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74136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Problem: Default parent_id caused HTTP 400 on OME.
TC-180015 failed with 'Bad Request' on group creation.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9776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8A745"/>
                </a:solidFill>
              </a:rPr>
              <a:t>Fix: Traced API response; corrected parent_id=1021.
Added fallback for OME version-specific IDs.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4800600"/>
            <a:ext cx="5715000" cy="1691640"/>
          </a:xfrm>
          <a:prstGeom prst="roundRect">
            <a:avLst/>
          </a:prstGeom>
          <a:solidFill>
            <a:srgbClr val="F8F8F8"/>
          </a:solidFill>
          <a:ln w="127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846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C3545"/>
                </a:solidFill>
              </a:rPr>
              <a:t>5. Edit Repo API No-Op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12080" y="4846320"/>
            <a:ext cx="68580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12080" y="4864608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FIXED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202936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Problem: PATCH /api/Catalog/... returns 200 but name unchanged.
TC-180015 Step 5 rename assertion failed.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8064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8A745"/>
                </a:solidFill>
              </a:rPr>
              <a:t>Fix: Added fallback: verify rename, keep original name if no-op.
Logged as OME API known behavior.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4800600"/>
            <a:ext cx="5715000" cy="1691640"/>
          </a:xfrm>
          <a:prstGeom prst="roundRect">
            <a:avLst/>
          </a:prstGeom>
          <a:solidFill>
            <a:srgbClr val="F8F8F8"/>
          </a:solidFill>
          <a:ln w="127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4846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C3545"/>
                </a:solidFill>
              </a:rPr>
              <a:t>6. Template Brace Escaping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155680" y="4846320"/>
            <a:ext cx="68580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155680" y="4864608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FIXED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202936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Problem: Python .format() conflicts with {{ }} in generated code.
SyntaxError in output test files.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8064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8A745"/>
                </a:solidFill>
              </a:rPr>
              <a:t>Fix: Used single braces in _BODY_* constants;
double braces only in the outer template string.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8E8"/>
                </a:solidFill>
              </a:rPr>
              <a:t>AI-Powered Agentic Test Automation System  |  MTech Final Project  |  2024TM93022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0" y="65562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0C8E8"/>
                </a:solidFill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Data Collection &amp;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9BD4"/>
                </a:solidFill>
              </a:rPr>
              <a:t>qTest Manager API + atlas-ome-staging + OME Appliance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3657600" cy="521208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7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344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6CE"/>
                </a:solidFill>
              </a:rPr>
              <a:t>qTest Manager (Source)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69164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333D4B"/>
                </a:solidFill>
              </a:rPr>
              <a:t>URL: https://qtest.gtie.dell.com</a:t>
            </a:r>
          </a:p>
          <a:p>
            <a:pPr algn="l"/>
            <a:r>
              <a:rPr sz="1050" b="0">
                <a:solidFill>
                  <a:srgbClr val="333D4B"/>
                </a:solidFill>
              </a:rPr>
              <a:t>Project: Dell ESG (ID: 334)</a:t>
            </a:r>
          </a:p>
          <a:p>
            <a:pPr algn="l"/>
            <a:r>
              <a:rPr sz="1050" b="0">
                <a:solidFill>
                  <a:srgbClr val="333D4B"/>
                </a:solidFill>
              </a:rPr>
              <a:t>TCs fetched: TC-174995, TC-180015</a:t>
            </a:r>
          </a:p>
          <a:p>
            <a:pPr algn="l"/>
            <a:r>
              <a:rPr sz="1050" b="0">
                <a:solidFill>
                  <a:srgbClr val="333D4B"/>
                </a:solidFill>
              </a:rPr>
              <a:t/>
            </a:r>
          </a:p>
          <a:p>
            <a:pPr algn="l"/>
            <a:r>
              <a:rPr sz="1050" b="0">
                <a:solidFill>
                  <a:srgbClr val="333D4B"/>
                </a:solidFill>
              </a:rPr>
              <a:t>APIs Used (read-only):</a:t>
            </a:r>
          </a:p>
          <a:p>
            <a:pPr algn="l"/>
            <a:r>
              <a:rPr sz="1050" b="0">
                <a:solidFill>
                  <a:srgbClr val="333D4B"/>
                </a:solidFill>
              </a:rPr>
              <a:t>  GET  /api/v3/projects</a:t>
            </a:r>
          </a:p>
          <a:p>
            <a:pPr algn="l"/>
            <a:r>
              <a:rPr sz="1050" b="0">
                <a:solidFill>
                  <a:srgbClr val="333D4B"/>
                </a:solidFill>
              </a:rPr>
              <a:t>  POST /api/v3/projects/{id}/search</a:t>
            </a:r>
          </a:p>
          <a:p>
            <a:pPr algn="l"/>
            <a:r>
              <a:rPr sz="1050" b="0">
                <a:solidFill>
                  <a:srgbClr val="333D4B"/>
                </a:solidFill>
              </a:rPr>
              <a:t>  GET  /api/v3/.../test-cases/{id}</a:t>
            </a:r>
          </a:p>
          <a:p>
            <a:pPr algn="l"/>
            <a:r>
              <a:rPr sz="1050" b="0">
                <a:solidFill>
                  <a:srgbClr val="333D4B"/>
                </a:solidFill>
              </a:rPr>
              <a:t>  GET  /api/v3/.../test-steps</a:t>
            </a:r>
          </a:p>
          <a:p>
            <a:pPr algn="l"/>
            <a:r>
              <a:rPr sz="1050" b="0">
                <a:solidFill>
                  <a:srgbClr val="333D4B"/>
                </a:solidFill>
              </a:rPr>
              <a:t/>
            </a:r>
          </a:p>
          <a:p>
            <a:pPr algn="l"/>
            <a:r>
              <a:rPr sz="1050" b="0">
                <a:solidFill>
                  <a:srgbClr val="333D4B"/>
                </a:solidFill>
              </a:rPr>
              <a:t>Auth: Bearer token</a:t>
            </a:r>
          </a:p>
          <a:p>
            <a:pPr algn="l"/>
            <a:r>
              <a:rPr sz="1050" b="0">
                <a:solidFill>
                  <a:srgbClr val="333D4B"/>
                </a:solidFill>
              </a:rPr>
              <a:t>TC-174995 steps: 11</a:t>
            </a:r>
          </a:p>
          <a:p>
            <a:pPr algn="l"/>
            <a:r>
              <a:rPr sz="1050" b="0">
                <a:solidFill>
                  <a:srgbClr val="333D4B"/>
                </a:solidFill>
              </a:rPr>
              <a:t>TC-180015 steps: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76CE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143000"/>
            <a:ext cx="3017520" cy="5212080"/>
          </a:xfrm>
          <a:prstGeom prst="roundRect">
            <a:avLst/>
          </a:prstGeom>
          <a:solidFill>
            <a:srgbClr val="F5FFF5"/>
          </a:solidFill>
          <a:ln w="127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234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8A745"/>
                </a:solidFill>
              </a:rPr>
              <a:t>System 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691640"/>
            <a:ext cx="2743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JSON TC data parsed</a:t>
            </a:r>
          </a:p>
          <a:p>
            <a:pPr algn="l"/>
            <a:r>
              <a:rPr sz="1000" b="0">
                <a:solidFill>
                  <a:srgbClr val="333D4B"/>
                </a:solidFill>
              </a:rPr>
              <a:t>Steps keyword-classified</a:t>
            </a:r>
          </a:p>
          <a:p>
            <a:pPr algn="l"/>
            <a:r>
              <a:rPr sz="1000" b="0">
                <a:solidFill>
                  <a:srgbClr val="333D4B"/>
                </a:solidFill>
              </a:rPr>
              <a:t>RAG context retrieved</a:t>
            </a:r>
          </a:p>
          <a:p>
            <a:pPr algn="l"/>
            <a:r>
              <a:rPr sz="1000" b="0">
                <a:solidFill>
                  <a:srgbClr val="333D4B"/>
                </a:solidFill>
              </a:rPr>
              <a:t>Test code generated</a:t>
            </a:r>
          </a:p>
          <a:p>
            <a:pPr algn="l"/>
            <a:r>
              <a:rPr sz="1000" b="0">
                <a:solidFill>
                  <a:srgbClr val="333D4B"/>
                </a:solidFill>
              </a:rPr>
              <a:t>pytest file written</a:t>
            </a:r>
          </a:p>
          <a:p>
            <a:pPr algn="l"/>
            <a:r>
              <a:rPr sz="1000" b="0">
                <a:solidFill>
                  <a:srgbClr val="333D4B"/>
                </a:solidFill>
              </a:rPr>
              <a:t/>
            </a:r>
          </a:p>
          <a:p>
            <a:pPr algn="l"/>
            <a:r>
              <a:rPr sz="1000" b="0">
                <a:solidFill>
                  <a:srgbClr val="333D4B"/>
                </a:solidFill>
              </a:rPr>
              <a:t>Demo (ShopEasy):</a:t>
            </a:r>
          </a:p>
          <a:p>
            <a:pPr algn="l"/>
            <a:r>
              <a:rPr sz="1000" b="0">
                <a:solidFill>
                  <a:srgbClr val="333D4B"/>
                </a:solidFill>
              </a:rPr>
              <a:t>  10 TCs from JSON</a:t>
            </a:r>
          </a:p>
          <a:p>
            <a:pPr algn="l"/>
            <a:r>
              <a:rPr sz="1000" b="0">
                <a:solidFill>
                  <a:srgbClr val="333D4B"/>
                </a:solidFill>
              </a:rPr>
              <a:t>  SimpleTestGenerator</a:t>
            </a:r>
          </a:p>
          <a:p>
            <a:pPr algn="l"/>
            <a:r>
              <a:rPr sz="1000" b="0">
                <a:solidFill>
                  <a:srgbClr val="333D4B"/>
                </a:solidFill>
              </a:rPr>
              <a:t>  standalone_framework</a:t>
            </a:r>
          </a:p>
          <a:p>
            <a:pPr algn="l"/>
            <a:r>
              <a:rPr sz="1000" b="0">
                <a:solidFill>
                  <a:srgbClr val="333D4B"/>
                </a:solidFill>
              </a:rPr>
              <a:t>  Mock ShopEasy API</a:t>
            </a:r>
          </a:p>
          <a:p>
            <a:pPr algn="l"/>
            <a:r>
              <a:rPr sz="1000" b="0">
                <a:solidFill>
                  <a:srgbClr val="333D4B"/>
                </a:solidFill>
              </a:rPr>
              <a:t/>
            </a:r>
          </a:p>
          <a:p>
            <a:pPr algn="l"/>
            <a:r>
              <a:rPr sz="1000" b="0">
                <a:solidFill>
                  <a:srgbClr val="333D4B"/>
                </a:solidFill>
              </a:rPr>
              <a:t>Real OME:</a:t>
            </a:r>
          </a:p>
          <a:p>
            <a:pPr algn="l"/>
            <a:r>
              <a:rPr sz="1000" b="0">
                <a:solidFill>
                  <a:srgbClr val="333D4B"/>
                </a:solidFill>
              </a:rPr>
              <a:t>  atlas-ome-staging</a:t>
            </a:r>
          </a:p>
          <a:p>
            <a:pPr algn="l"/>
            <a:r>
              <a:rPr sz="1000" b="0">
                <a:solidFill>
                  <a:srgbClr val="333D4B"/>
                </a:solidFill>
              </a:rPr>
              <a:t>  OmeBaseFunctional
  TestCase base class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8A745"/>
                </a:solidFill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1143000"/>
            <a:ext cx="3474720" cy="5212080"/>
          </a:xfrm>
          <a:prstGeom prst="roundRect">
            <a:avLst/>
          </a:prstGeom>
          <a:solidFill>
            <a:srgbClr val="F0F0FF"/>
          </a:solidFill>
          <a:ln w="127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2B5C"/>
                </a:solidFill>
              </a:rPr>
              <a:t>OME Appliance (Target)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169164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</a:rPr>
              <a:t>IP: 100.100.4.189</a:t>
            </a:r>
          </a:p>
          <a:p>
            <a:pPr algn="l"/>
            <a:r>
              <a:rPr sz="1000" b="0">
                <a:solidFill>
                  <a:srgbClr val="CCDDFF"/>
                </a:solidFill>
              </a:rPr>
              <a:t>Protocol: HTTPS (port 443)</a:t>
            </a:r>
          </a:p>
          <a:p>
            <a:pPr algn="l"/>
            <a:r>
              <a:rPr sz="1000" b="0">
                <a:solidFill>
                  <a:srgbClr val="CCDDFF"/>
                </a:solidFill>
              </a:rPr>
              <a:t>Auth: admin credentials</a:t>
            </a:r>
          </a:p>
          <a:p>
            <a:pPr algn="l"/>
            <a:r>
              <a:rPr sz="1000" b="0">
                <a:solidFill>
                  <a:srgbClr val="CCDDFF"/>
                </a:solidFill>
              </a:rPr>
              <a:t/>
            </a:r>
          </a:p>
          <a:p>
            <a:pPr algn="l"/>
            <a:r>
              <a:rPr sz="1000" b="0">
                <a:solidFill>
                  <a:srgbClr val="CCDDFF"/>
                </a:solidFill>
              </a:rPr>
              <a:t>Features Tested:</a:t>
            </a:r>
          </a:p>
          <a:p>
            <a:pPr algn="l"/>
            <a:r>
              <a:rPr sz="1000" b="0">
                <a:solidFill>
                  <a:srgbClr val="CCDDFF"/>
                </a:solidFill>
              </a:rPr>
              <a:t>  Plugin install/enable</a:t>
            </a:r>
          </a:p>
          <a:p>
            <a:pPr algn="l"/>
            <a:r>
              <a:rPr sz="1000" b="0">
                <a:solidFill>
                  <a:srgbClr val="CCDDFF"/>
                </a:solidFill>
              </a:rPr>
              <a:t>  Device discovery</a:t>
            </a:r>
          </a:p>
          <a:p>
            <a:pPr algn="l"/>
            <a:r>
              <a:rPr sz="1000" b="0">
                <a:solidFill>
                  <a:srgbClr val="CCDDFF"/>
                </a:solidFill>
              </a:rPr>
              <a:t>  Static group creation</a:t>
            </a:r>
          </a:p>
          <a:p>
            <a:pPr algn="l"/>
            <a:r>
              <a:rPr sz="1000" b="0">
                <a:solidFill>
                  <a:srgbClr val="CCDDFF"/>
                </a:solidFill>
              </a:rPr>
              <a:t>  Health monitoring</a:t>
            </a:r>
          </a:p>
          <a:p>
            <a:pPr algn="l"/>
            <a:r>
              <a:rPr sz="1000" b="0">
                <a:solidFill>
                  <a:srgbClr val="CCDDFF"/>
                </a:solidFill>
              </a:rPr>
              <a:t>  SCOM/SCVMM integration</a:t>
            </a:r>
          </a:p>
          <a:p>
            <a:pPr algn="l"/>
            <a:r>
              <a:rPr sz="1000" b="0">
                <a:solidFill>
                  <a:srgbClr val="CCDDFF"/>
                </a:solidFill>
              </a:rPr>
              <a:t>  Firmware catalog/repo</a:t>
            </a:r>
          </a:p>
          <a:p>
            <a:pPr algn="l"/>
            <a:r>
              <a:rPr sz="1000" b="0">
                <a:solidFill>
                  <a:srgbClr val="CCDDFF"/>
                </a:solidFill>
              </a:rPr>
              <a:t>  Compliance baselines</a:t>
            </a:r>
          </a:p>
          <a:p>
            <a:pPr algn="l"/>
            <a:r>
              <a:rPr sz="1000" b="0">
                <a:solidFill>
                  <a:srgbClr val="CCDDFF"/>
                </a:solidFill>
              </a:rPr>
              <a:t/>
            </a:r>
          </a:p>
          <a:p>
            <a:pPr algn="l"/>
            <a:r>
              <a:rPr sz="1000" b="0">
                <a:solidFill>
                  <a:srgbClr val="CCDDFF"/>
                </a:solidFill>
              </a:rPr>
              <a:t>Framework: atlas-ome-staging</a:t>
            </a:r>
          </a:p>
          <a:p>
            <a:pPr algn="l"/>
            <a:r>
              <a:rPr sz="1000" b="0">
                <a:solidFill>
                  <a:srgbClr val="CCDDFF"/>
                </a:solidFill>
              </a:rPr>
              <a:t>Test Results: 2 / 2 PASSED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8E8"/>
                </a:solidFill>
              </a:rPr>
              <a:t>AI-Powered Agentic Test Automation System  |  MTech Final Project  |  2024TM93022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5562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0C8E8"/>
                </a:solidFill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Results &amp; Performance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9BD4"/>
                </a:solidFill>
              </a:rPr>
              <a:t>Demo Validation + Real OME Test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1828800" cy="11887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344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75564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Demo TCs PASSED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1143000"/>
            <a:ext cx="1828800" cy="118872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12344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2 /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75564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OME TCs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143000"/>
            <a:ext cx="1828800" cy="1188720"/>
          </a:xfrm>
          <a:prstGeom prst="roundRect">
            <a:avLst/>
          </a:prstGeom>
          <a:solidFill>
            <a:srgbClr val="009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2344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1.63s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75564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TC-174995 Duration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143000"/>
            <a:ext cx="1828800" cy="118872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2344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192.5s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175564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TC-180015 Duration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143000"/>
            <a:ext cx="1828800" cy="11887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2344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75564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Manual Fix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04120" y="1143000"/>
            <a:ext cx="1828800" cy="1188720"/>
          </a:xfrm>
          <a:prstGeom prst="roundRect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04120" y="12344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04120" y="175564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Max Retries Avail.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2514600"/>
            <a:ext cx="5486400" cy="38404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6474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3078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47487"/>
                </a:solidFill>
              </a:rPr>
              <a:t>[Screenshot: HTML Test Report
showing PASSED status for OME TCs]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251460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2B5C"/>
                </a:solidFill>
              </a:rPr>
              <a:t>OME Test Case Execution Detail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2926080"/>
            <a:ext cx="6400800" cy="347472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0" y="29626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TC 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296265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Name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96265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96265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Attempts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296265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Duration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04320" y="296265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89320" y="3273552"/>
            <a:ext cx="6400800" cy="65836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0" y="3319272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TC-174995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3319272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OME Device Health
Plugin Workflow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33192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3319272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3319272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1.63s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331927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8A745"/>
                </a:solidFill>
              </a:rPr>
              <a:t>PASSED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89320" y="3959352"/>
            <a:ext cx="64008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35040" y="4005072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TC-180015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0" y="4005072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Firmware Catalog &amp;
Static Group Mgmt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40050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4005072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4005072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192.5s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04320" y="400507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8A745"/>
                </a:solidFill>
              </a:rPr>
              <a:t>PASSED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89320" y="475488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2B5C"/>
                </a:solidFill>
              </a:rPr>
              <a:t>Agent Performance Summary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516636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• QTestAgent  [&lt; 2s]  —  Fetched TC data from qTest API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5513832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• TestGeneratorAgent  [&lt; 1s]  —  Template-based generation (no LLM latency)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0" y="5861304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• TestExecutorAgent  [Varies]  —  pytest subprocess; TC-180015 = 3 min 12 sec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6208776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• FixerAgent  [&lt; 0.1s]  —  Regex classification; instant fix strategy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8E8"/>
                </a:solidFill>
              </a:rPr>
              <a:t>AI-Powered Agentic Test Automation System  |  MTech Final Project  |  2024TM93022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30000" y="65562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0C8E8"/>
                </a:solidFill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Pending Work — Final Demo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9BD4"/>
                </a:solidFill>
              </a:rPr>
              <a:t>What Will Be Completed Before Final Demonstration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3749039" cy="21488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26080" y="1216152"/>
            <a:ext cx="100584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2344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Fix Web UI
Caching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56232"/>
            <a:ext cx="3566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D4B"/>
                </a:solidFill>
              </a:rPr>
              <a:t>Flask subprocess isolation; fresh venv per 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143000"/>
            <a:ext cx="3749039" cy="21488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009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0" y="1216152"/>
            <a:ext cx="1005840" cy="320040"/>
          </a:xfrm>
          <a:prstGeom prst="roundRect">
            <a:avLst/>
          </a:prstGeom>
          <a:solidFill>
            <a:srgbClr val="009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2344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Week 1-2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23444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BD4"/>
                </a:solidFill>
              </a:rPr>
              <a:t>RAG System
Optimisation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856232"/>
            <a:ext cx="3566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D4B"/>
                </a:solidFill>
              </a:rPr>
              <a:t>Lighter embedding model; reduce memory footprint.
Re-enable FAISS in Web 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143000"/>
            <a:ext cx="3749039" cy="21488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789920" y="1216152"/>
            <a:ext cx="1005840" cy="320040"/>
          </a:xfrm>
          <a:prstGeom prst="round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0" y="12344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Week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23444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A0DAD"/>
                </a:solidFill>
              </a:rPr>
              <a:t>LLM Integration
(Live)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1856232"/>
            <a:ext cx="3566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D4B"/>
                </a:solidFill>
              </a:rPr>
              <a:t>Connect GPT-4 API for context-aware TC generation.
Compare LLM vs template quality.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3474720"/>
            <a:ext cx="3749039" cy="21488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007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926080" y="3547872"/>
            <a:ext cx="1005840" cy="32004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0" y="35661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Week 2-3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566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6CE"/>
                </a:solidFill>
              </a:rPr>
              <a:t>Expand OME
Test Suite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87952"/>
            <a:ext cx="3566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D4B"/>
                </a:solidFill>
              </a:rPr>
              <a:t>Run 50+ TCs automatically.
Measure pass rate, retry frequency, fix accuracy.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474720"/>
            <a:ext cx="3749039" cy="21488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8000" y="3547872"/>
            <a:ext cx="100584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35661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Week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566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8A745"/>
                </a:solidFill>
              </a:rPr>
              <a:t>Full Atlas-OME
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187952"/>
            <a:ext cx="3566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D4B"/>
                </a:solidFill>
              </a:rPr>
              <a:t>Replace OmeApiClient with real atlas-ome-staging.
All framework classes connected.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474720"/>
            <a:ext cx="3749039" cy="21488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789920" y="3547872"/>
            <a:ext cx="1005840" cy="320040"/>
          </a:xfrm>
          <a:prstGeom prst="round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0" y="35661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Week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566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2B5C"/>
                </a:solidFill>
              </a:rPr>
              <a:t>Evaluation &amp;
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187952"/>
            <a:ext cx="3566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D4B"/>
                </a:solidFill>
              </a:rPr>
              <a:t>Comparative analysis: manual vs automated.
Final thesis report + presentation.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5806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33D4B"/>
                </a:solidFill>
              </a:rPr>
              <a:t>Project Completion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08960" y="5879592"/>
            <a:ext cx="8503920" cy="2011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08960" y="5879592"/>
            <a:ext cx="4677156" cy="201168"/>
          </a:xfrm>
          <a:prstGeom prst="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704320" y="583387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76CE"/>
                </a:solidFill>
              </a:rPr>
              <a:t>55% Complete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8E8"/>
                </a:solidFill>
              </a:rPr>
              <a:t>AI-Powered Agentic Test Automation System  |  MTech Final Project  |  2024TM93022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0" y="65562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0C8E8"/>
                </a:solidFill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OME Integration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9BD4"/>
                </a:solidFill>
              </a:rPr>
              <a:t>How the System Connects to Real Dell OME Infrastructure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685800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34440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2B5C"/>
                </a:solidFill>
              </a:rPr>
              <a:t>Full Integration Stack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6492240" cy="566928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0817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qTest Manager (Cloud)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142646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Test case source — TC steps, preconditions, expected results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1"/>
            <a:ext cx="6492240" cy="566928"/>
          </a:xfrm>
          <a:prstGeom prst="roundRect">
            <a:avLst/>
          </a:prstGeom>
          <a:solidFill>
            <a:srgbClr val="009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QTestAgent (Python)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139695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REST API client — read-only TC data extraction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798064"/>
            <a:ext cx="6492240" cy="566928"/>
          </a:xfrm>
          <a:prstGeom prst="round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8346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TestGeneratorAgent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285292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Code synthesis — LLM / Template → OmeBaseFunctionalTestCase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511296"/>
            <a:ext cx="6492240" cy="566928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54787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atlas-ome-staging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5661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Framework — DiscoveryConfig, PluginServiceTask, GroupServiceTask…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224528"/>
            <a:ext cx="6492240" cy="5669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OME REST API (HTTPS)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279392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Target — appliance at 100.100.4.189, port 443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937760"/>
            <a:ext cx="6492240" cy="566928"/>
          </a:xfrm>
          <a:prstGeom prst="round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97433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OME Appliance HW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499262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Dell PowerEdge servers, switches, chassis, PDU, UPS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143000"/>
            <a:ext cx="457200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52360" y="1234440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6CE"/>
                </a:solidFill>
              </a:rPr>
              <a:t>Demo ↔ OME Mapping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52360" y="1737360"/>
            <a:ext cx="4297680" cy="4572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79" y="17830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9BD4"/>
                </a:solidFill>
              </a:rPr>
              <a:t>ShopEasy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2600" y="178308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6CE"/>
                </a:solidFill>
              </a:rPr>
              <a:t>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78308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OME REST API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52360" y="2286000"/>
            <a:ext cx="429768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79" y="23317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9BD4"/>
                </a:solidFill>
              </a:rPr>
              <a:t>demo_testcases.json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233172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6CE"/>
                </a:solidFill>
              </a:rPr>
              <a:t>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33172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qTest Manager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52360" y="2834640"/>
            <a:ext cx="4297680" cy="4572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79" y="28803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9BD4"/>
                </a:solidFill>
              </a:rPr>
              <a:t>standalone_framework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288036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6CE"/>
                </a:solidFill>
              </a:rPr>
              <a:t>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28803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atlas-ome-staging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52360" y="3383280"/>
            <a:ext cx="429768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8079" y="3429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9BD4"/>
                </a:solidFill>
              </a:rPr>
              <a:t>SimpleTestGenerator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342900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6CE"/>
                </a:solidFill>
              </a:rPr>
              <a:t>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342900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TestGeneratorAgent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52360" y="3931920"/>
            <a:ext cx="4297680" cy="4572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79" y="39776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9BD4"/>
                </a:solidFill>
              </a:rPr>
              <a:t>mock_shopeasy_api.py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600" y="397764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6CE"/>
                </a:solidFill>
              </a:rPr>
              <a:t>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397764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OME Appliance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452360" y="4480560"/>
            <a:ext cx="429768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98079" y="45262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9BD4"/>
                </a:solidFill>
              </a:rPr>
              <a:t>Product CRUD ops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72600" y="452628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6CE"/>
                </a:solidFill>
              </a:rPr>
              <a:t>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452628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Device/Group ops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52360" y="5029200"/>
            <a:ext cx="4297680" cy="4572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98079" y="50749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9BD4"/>
                </a:solidFill>
              </a:rPr>
              <a:t>Order processing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72600" y="507492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6CE"/>
                </a:solidFill>
              </a:rPr>
              <a:t>≡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2640" y="507492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Job scheduling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452360" y="5577840"/>
            <a:ext cx="429768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98079" y="56235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9BD4"/>
                </a:solidFill>
              </a:rPr>
              <a:t>Catalog sync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72600" y="562356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6CE"/>
                </a:solidFill>
              </a:rPr>
              <a:t>≡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56235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D4B"/>
                </a:solidFill>
              </a:rPr>
              <a:t>Firmware catalog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8E8"/>
                </a:solidFill>
              </a:rPr>
              <a:t>AI-Powered Agentic Test Automation System  |  MTech Final Project  |  2024TM93022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0" y="65562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0C8E8"/>
                </a:solidFill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88952" cy="2103120"/>
          </a:xfrm>
          <a:prstGeom prst="rect">
            <a:avLst/>
          </a:prstGeom>
          <a:solidFill>
            <a:srgbClr val="00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Conclusion &amp; Key Contributions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22960"/>
            <a:ext cx="5486400" cy="38100"/>
          </a:xfrm>
          <a:prstGeom prst="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005840"/>
            <a:ext cx="5669280" cy="914400"/>
          </a:xfrm>
          <a:prstGeom prst="roundRect">
            <a:avLst/>
          </a:prstGeom>
          <a:solidFill>
            <a:srgbClr val="00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BD4"/>
                </a:solidFill>
              </a:rPr>
              <a:t>✔  End-to-End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8988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Fully automated: qTest fetch → code gen → execute → fix →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005840"/>
            <a:ext cx="5669280" cy="914400"/>
          </a:xfrm>
          <a:prstGeom prst="roundRect">
            <a:avLst/>
          </a:prstGeom>
          <a:solidFill>
            <a:srgbClr val="00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51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BD4"/>
                </a:solidFill>
              </a:rPr>
              <a:t>✔  Real OME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8988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TC-174995 &amp; TC-180015 executed on live OME appliance (all PASSED)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057400"/>
            <a:ext cx="5669280" cy="914400"/>
          </a:xfrm>
          <a:prstGeom prst="roundRect">
            <a:avLst/>
          </a:prstGeom>
          <a:solidFill>
            <a:srgbClr val="00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03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BD4"/>
                </a:solidFill>
              </a:rPr>
              <a:t>✔  Multi-Agent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44144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5 cooperating agents with defined contracts and retry orchestration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057400"/>
            <a:ext cx="5669280" cy="914400"/>
          </a:xfrm>
          <a:prstGeom prst="roundRect">
            <a:avLst/>
          </a:prstGeom>
          <a:solidFill>
            <a:srgbClr val="00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103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BD4"/>
                </a:solidFill>
              </a:rPr>
              <a:t>✔  AI + RAG + 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44144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Flexible generation: LLM with RAG context OR deterministic templates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108960"/>
            <a:ext cx="5669280" cy="914400"/>
          </a:xfrm>
          <a:prstGeom prst="roundRect">
            <a:avLst/>
          </a:prstGeom>
          <a:solidFill>
            <a:srgbClr val="00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154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BD4"/>
                </a:solidFill>
              </a:rPr>
              <a:t>✔  Error Auto-Classification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9300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8 error classes, confidence-scored fix strategies, zero manual intervention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108960"/>
            <a:ext cx="5669280" cy="914400"/>
          </a:xfrm>
          <a:prstGeom prst="roundRect">
            <a:avLst/>
          </a:prstGeom>
          <a:solidFill>
            <a:srgbClr val="00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154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BD4"/>
                </a:solidFill>
              </a:rPr>
              <a:t>✔  Demo Portability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49300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10 ShopEasy TCs, standalone framework, runs offline on any machine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84632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D4F1"/>
                </a:solidFill>
              </a:rPr>
              <a:t>"This system transforms weeks of manual test scripting into a fully automated, self-healing pipeline — bringing AI-driven quality assurance to enterprise hardware management at scale."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7607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47487"/>
                </a:solidFill>
              </a:rPr>
              <a:t>Student: Ankit Kumar  |  2024TM93022  |  MTech AI &amp; ML  |  BITS Pilani  |  April 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8E8"/>
                </a:solidFill>
              </a:rPr>
              <a:t>AI-Powered Agentic Test Automation System  |  MTech Final Project  |  2024TM93022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5562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0C8E8"/>
                </a:solidFill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