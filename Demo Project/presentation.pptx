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the presentation of our AI-powered agentic test automation system for 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system uses multiple specialized AI agents working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We're addressing the fundamental problem of manual test creation.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research identifies gaps in applying agentic AI to test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follow design science research methodology with iterative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multi-agent architecture allows specialized agents to handle different aspects.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standalone framework eliminates dependencies on proprietary Atlas framework.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test generation process transforms natural language into executable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Current implementation uses minimal resources while maintaining full functionality.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Here you can see the successful generation of all 10 test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10 tests pass successfully in under 0.2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overcame significant technical challenges to achieve our current success.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have a clear path from our current mid-term demo to the final production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ShopEasy demo maps directly to real OME workflows with minimal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evaluation shows excellent results across all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We've achieved significant milestones and have a clear path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 for your attention. I'm happy to answer any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AI-Powered Agentic Test Automation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16A085"/>
                </a:solidFill>
              </a:defRPr>
            </a:pPr>
            <a:r>
              <a:t>Mid-Term Presentation - OME Test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2286000"/>
            <a:ext cx="4572000" cy="1371600"/>
          </a:xfrm>
          <a:prstGeom prst="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Presenter: [Your Name]</a:t>
            </a:r>
          </a:p>
          <a:p>
            <a:r>
              <a:t>Date: [Presentation Date]</a:t>
            </a:r>
          </a:p>
          <a:p>
            <a:r>
              <a:t>M.Tech Final Semester Project</a:t>
            </a:r>
          </a:p>
        </p:txBody>
      </p:sp>
      <p:sp>
        <p:nvSpPr>
          <p:cNvPr id="6" name="Oval 5"/>
          <p:cNvSpPr/>
          <p:nvPr/>
        </p:nvSpPr>
        <p:spPr>
          <a:xfrm>
            <a:off x="457200" y="4114800"/>
            <a:ext cx="914400" cy="914400"/>
          </a:xfrm>
          <a:prstGeom prst="ellipse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AI</a:t>
            </a:r>
          </a:p>
        </p:txBody>
      </p:sp>
      <p:sp>
        <p:nvSpPr>
          <p:cNvPr id="7" name="Oval 6"/>
          <p:cNvSpPr/>
          <p:nvPr/>
        </p:nvSpPr>
        <p:spPr>
          <a:xfrm>
            <a:off x="7772400" y="4114800"/>
            <a:ext cx="914400" cy="914400"/>
          </a:xfrm>
          <a:prstGeom prst="ellipse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ML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Project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4114800" cy="27432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Objective: Automate test case generation for OME</a:t>
            </a:r>
          </a:p>
          <a:p/>
          <a:p>
            <a:r>
              <a:t>Approach: Multi-agent AI system</a:t>
            </a:r>
          </a:p>
          <a:p/>
          <a:p>
            <a:r>
              <a:t>Status: Mid-term demo with standalone framework</a:t>
            </a:r>
          </a:p>
          <a:p/>
          <a:p>
            <a:r>
              <a:t>Target: Full AI-powered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371600"/>
            <a:ext cx="4114800" cy="27432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Key Features:</a:t>
            </a:r>
          </a:p>
          <a:p>
            <a:r>
              <a:t>• Multi-agent system</a:t>
            </a:r>
          </a:p>
          <a:p>
            <a:r>
              <a:t>• Automated generation</a:t>
            </a:r>
          </a:p>
          <a:p>
            <a:r>
              <a:t>• Intelligent execution</a:t>
            </a:r>
          </a:p>
          <a:p>
            <a:r>
              <a:t>• Self-healing</a:t>
            </a:r>
          </a:p>
          <a:p>
            <a:r>
              <a:t>• RAG-based generation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389120"/>
            <a:ext cx="8229600" cy="20116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Multi-Agent Architecture Diagram]</a:t>
            </a:r>
          </a:p>
          <a:p>
            <a:r>
              <a:t>(Show Orchestrator, QTest, Generator, Executor, Fixer agents)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Introduction &amp; Motivation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4114800" cy="228600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Problem Statement:</a:t>
            </a:r>
          </a:p>
          <a:p>
            <a:r>
              <a:t>• Manual test creation is time-consuming</a:t>
            </a:r>
          </a:p>
          <a:p>
            <a:r>
              <a:t>• OME has complex workflows</a:t>
            </a:r>
          </a:p>
          <a:p>
            <a:r>
              <a:t>• Current process lacks automation</a:t>
            </a:r>
          </a:p>
          <a:p>
            <a:r>
              <a:t>• High maintenance costs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371600"/>
            <a:ext cx="4114800" cy="22860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Our Solution:</a:t>
            </a:r>
          </a:p>
          <a:p>
            <a:r>
              <a:t>• AI-powered automation</a:t>
            </a:r>
          </a:p>
          <a:p>
            <a:r>
              <a:t>• Automated generation from descriptions</a:t>
            </a:r>
          </a:p>
          <a:p>
            <a:r>
              <a:t>• Intelligent failure analysis</a:t>
            </a:r>
          </a:p>
          <a:p>
            <a:r>
              <a:t>• Reduced manual effort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840480"/>
            <a:ext cx="8229600" cy="25603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Problem vs Solution Comparison Chart]</a:t>
            </a:r>
          </a:p>
          <a:p>
            <a:r>
              <a:t>(Manual vs Automated time comparison)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743200" cy="1371600"/>
          </a:xfrm>
          <a:prstGeom prst="rect">
            <a:avLst/>
          </a:prstGeom>
          <a:solidFill>
            <a:srgbClr val="E6F0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1. Test Automation</a:t>
            </a:r>
          </a:p>
          <a:p>
            <a:r>
              <a:t>• Traditional frameworks</a:t>
            </a:r>
          </a:p>
          <a:p>
            <a:r>
              <a:t>• Limitations: Maintenance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371600"/>
            <a:ext cx="2743200" cy="1371600"/>
          </a:xfrm>
          <a:prstGeom prst="rect">
            <a:avLst/>
          </a:prstGeom>
          <a:solidFill>
            <a:srgbClr val="E6F0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2. AI in Testing</a:t>
            </a:r>
          </a:p>
          <a:p>
            <a:r>
              <a:t>• ML prioritization</a:t>
            </a:r>
          </a:p>
          <a:p>
            <a:r>
              <a:t>• NLP generation</a:t>
            </a:r>
          </a:p>
          <a:p>
            <a:r>
              <a:t>• Gap: Agentic approaches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2743200" cy="1371600"/>
          </a:xfrm>
          <a:prstGeom prst="rect">
            <a:avLst/>
          </a:prstGeom>
          <a:solidFill>
            <a:srgbClr val="E6F0FF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3. Agentic AI</a:t>
            </a:r>
          </a:p>
          <a:p>
            <a:r>
              <a:t>• Multi-agent systems</a:t>
            </a:r>
          </a:p>
          <a:p>
            <a:r>
              <a:t>• Software engineering</a:t>
            </a:r>
          </a:p>
          <a:p>
            <a:r>
              <a:t>• Opportunity: Testing domain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926080"/>
            <a:ext cx="8229600" cy="347472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Research Gap Matrix]</a:t>
            </a:r>
          </a:p>
          <a:p>
            <a:r>
              <a:t>(Show current research vs our contribution)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Research Methodology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1645920" cy="73152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1. Problem</a:t>
            </a:r>
          </a:p>
          <a:p>
            <a:r>
              <a:t>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371600"/>
            <a:ext cx="1645920" cy="73152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2. System</a:t>
            </a:r>
          </a:p>
          <a:p>
            <a:r>
              <a:t>Design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7760" y="1371600"/>
            <a:ext cx="1645920" cy="73152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3. Implementation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0" y="1371600"/>
            <a:ext cx="1645920" cy="73152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4. Evaluation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51760" y="1508760"/>
            <a:ext cx="182880" cy="45720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9" name="Right Arrow 8"/>
          <p:cNvSpPr/>
          <p:nvPr/>
        </p:nvSpPr>
        <p:spPr>
          <a:xfrm>
            <a:off x="4663440" y="1508760"/>
            <a:ext cx="182880" cy="45720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10" name="Right Arrow 9"/>
          <p:cNvSpPr/>
          <p:nvPr/>
        </p:nvSpPr>
        <p:spPr>
          <a:xfrm>
            <a:off x="6675120" y="1508760"/>
            <a:ext cx="182880" cy="45720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457200" y="2377440"/>
            <a:ext cx="8229600" cy="109728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Design Science Research Approach with iterative development and evaluation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57600"/>
            <a:ext cx="8229600" cy="27432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Detailed Research Methodology Flowchart]</a:t>
            </a:r>
          </a:p>
          <a:p>
            <a:r>
              <a:t>(Show evaluation framework and validation approach)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Multi-Agent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0" y="1371600"/>
            <a:ext cx="1828800" cy="731520"/>
          </a:xfrm>
          <a:prstGeom prst="roundRect">
            <a:avLst/>
          </a:prstGeom>
          <a:solidFill>
            <a:srgbClr val="E67E22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Orchestrator</a:t>
            </a:r>
          </a:p>
          <a:p>
            <a:r>
              <a:t>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37160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QTest</a:t>
            </a:r>
          </a:p>
          <a:p>
            <a: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2743200"/>
            <a:ext cx="137160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Test</a:t>
            </a:r>
          </a:p>
          <a:p>
            <a:r>
              <a:t>Generator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3840480"/>
            <a:ext cx="182880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Test</a:t>
            </a:r>
          </a:p>
          <a:p>
            <a:r>
              <a:t>Executor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4754880"/>
            <a:ext cx="182880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>
                <a:solidFill>
                  <a:srgbClr val="FFFFFF"/>
                </a:solidFill>
              </a:defRPr>
            </a:pPr>
            <a:r>
              <a:t>Fixer</a:t>
            </a:r>
          </a:p>
          <a:p>
            <a:r>
              <a:t>Agent</a:t>
            </a:r>
          </a:p>
        </p:txBody>
      </p:sp>
      <p:sp>
        <p:nvSpPr>
          <p:cNvPr id="9" name="Down Arrow 8"/>
          <p:cNvSpPr/>
          <p:nvPr/>
        </p:nvSpPr>
        <p:spPr>
          <a:xfrm>
            <a:off x="4114800" y="2194560"/>
            <a:ext cx="182880" cy="365760"/>
          </a:xfrm>
          <a:prstGeom prst="down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0" name="Down Arrow 9"/>
          <p:cNvSpPr/>
          <p:nvPr/>
        </p:nvSpPr>
        <p:spPr>
          <a:xfrm>
            <a:off x="4114800" y="3474720"/>
            <a:ext cx="182880" cy="365760"/>
          </a:xfrm>
          <a:prstGeom prst="down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1" name="Down Arrow 10"/>
          <p:cNvSpPr/>
          <p:nvPr/>
        </p:nvSpPr>
        <p:spPr>
          <a:xfrm>
            <a:off x="4114800" y="4389120"/>
            <a:ext cx="182880" cy="365760"/>
          </a:xfrm>
          <a:prstGeom prst="down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2" name="Rounded Rectangle 11"/>
          <p:cNvSpPr/>
          <p:nvPr/>
        </p:nvSpPr>
        <p:spPr>
          <a:xfrm>
            <a:off x="457200" y="5303520"/>
            <a:ext cx="8229600" cy="12801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Detailed Multi-Agent Architecture Diagram]</a:t>
            </a:r>
          </a:p>
          <a:p>
            <a:r>
              <a:t>(Show agent interactions and data flow)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Standalone Test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743200" cy="91440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BaseTestCase</a:t>
            </a:r>
          </a:p>
          <a:p>
            <a:r>
              <a:t>(Foundation)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0" y="1371600"/>
            <a:ext cx="2743200" cy="9144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MockAPIClient</a:t>
            </a:r>
          </a:p>
          <a:p>
            <a:r>
              <a:t>(Simulates OME)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0" y="1371600"/>
            <a:ext cx="2743200" cy="9144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Assertion</a:t>
            </a:r>
          </a:p>
          <a:p>
            <a:r>
              <a:t>Utilities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8229600" cy="9144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Key Features: No Atlas dependencies • Pytest-compatible • Self-contained • Mock API for offline execution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8229600" cy="2926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Framework Class Diagram]</a:t>
            </a:r>
          </a:p>
          <a:p>
            <a:r>
              <a:t>(Show BaseTestCase, MockAPIClient, assertion utilities)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Test Generation Workflow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1. Input Description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137160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2. Extract Steps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0" y="137160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3. Template Match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10312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4. Generate Code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0" y="210312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5. Validate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2103120"/>
            <a:ext cx="1188720" cy="54864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>
                <a:solidFill>
                  <a:srgbClr val="FFFFFF"/>
                </a:solidFill>
              </a:defRPr>
            </a:pPr>
            <a:r>
              <a:t>6. Output Test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645920" y="1508760"/>
            <a:ext cx="137160" cy="27432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1" name="Right Arrow 10"/>
          <p:cNvSpPr/>
          <p:nvPr/>
        </p:nvSpPr>
        <p:spPr>
          <a:xfrm>
            <a:off x="3017520" y="1508760"/>
            <a:ext cx="137160" cy="27432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2" name="Right Arrow 11"/>
          <p:cNvSpPr/>
          <p:nvPr/>
        </p:nvSpPr>
        <p:spPr>
          <a:xfrm>
            <a:off x="4389120" y="1508760"/>
            <a:ext cx="137160" cy="27432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3" name="Right Arrow 12"/>
          <p:cNvSpPr/>
          <p:nvPr/>
        </p:nvSpPr>
        <p:spPr>
          <a:xfrm>
            <a:off x="5760720" y="1508760"/>
            <a:ext cx="137160" cy="27432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4" name="Right Arrow 13"/>
          <p:cNvSpPr/>
          <p:nvPr/>
        </p:nvSpPr>
        <p:spPr>
          <a:xfrm>
            <a:off x="7132320" y="1508760"/>
            <a:ext cx="137160" cy="274320"/>
          </a:xfrm>
          <a:prstGeom prst="rightArrow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>
                <a:solidFill>
                  <a:srgbClr val="FFFFFF"/>
                </a:solidFill>
              </a:defRPr>
            </a:pPr>
          </a:p>
        </p:txBody>
      </p:sp>
      <p:sp>
        <p:nvSpPr>
          <p:cNvPr id="15" name="Rounded Rectangle 14"/>
          <p:cNvSpPr/>
          <p:nvPr/>
        </p:nvSpPr>
        <p:spPr>
          <a:xfrm>
            <a:off x="457200" y="2926080"/>
            <a:ext cx="8229600" cy="3291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Test Generation Process Flow Diagram]</a:t>
            </a:r>
          </a:p>
          <a:p>
            <a:r>
              <a:t>(Show input → processing → output pipeline)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Implementation Details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058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16A085"/>
                </a:solidFill>
              </a:defRPr>
            </a:pPr>
            <a:r>
              <a:t>Memory, AI/ML, and RAG Usage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3657600" cy="457200"/>
          </a:xfrm>
          <a:prstGeom prst="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r>
              <a:t>Memory Usage: 50-100MB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20240"/>
            <a:ext cx="2286000" cy="27432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Used: 75MB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4114800" cy="13716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AI/ML Components:</a:t>
            </a:r>
          </a:p>
          <a:p>
            <a:r>
              <a:t>• Template-based generation (no LLM)</a:t>
            </a:r>
          </a:p>
          <a:p>
            <a:r>
              <a:t>• Pattern matching</a:t>
            </a:r>
          </a:p>
          <a:p>
            <a:r>
              <a:t>• Rule-based creation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0" y="2377440"/>
            <a:ext cx="4114800" cy="137160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RAG System:</a:t>
            </a:r>
          </a:p>
          <a:p>
            <a:r>
              <a:t>• Temporarily disabled</a:t>
            </a:r>
          </a:p>
          <a:p>
            <a:r>
              <a:t>• Memory constraints</a:t>
            </a:r>
          </a:p>
          <a:p>
            <a:r>
              <a:t>• Planned for final demo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Technology Stack: Python 3.8+ • Pytest • Flask • Mock APIs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029200"/>
            <a:ext cx="822960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Resource Utilization Chart]</a:t>
            </a:r>
          </a:p>
          <a:p>
            <a:r>
              <a:t>(Show memory breakdown by component)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Test Generation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Command: py regenerate_tests.py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097280"/>
            <a:ext cx="4114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Results: 10/10 generated • &lt;5s • 100% success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11680"/>
            <a:ext cx="4114800" cy="13716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Test Coverage:</a:t>
            </a:r>
          </a:p>
          <a:p>
            <a:r>
              <a:t>• TC-001: Product creation</a:t>
            </a:r>
          </a:p>
          <a:p>
            <a:r>
              <a:t>• TC-002: Product search</a:t>
            </a:r>
          </a:p>
          <a:p>
            <a:r>
              <a:t>• TC-003: Category ops</a:t>
            </a:r>
          </a:p>
          <a:p>
            <a:r>
              <a:t>• TC-004: Shopping cart</a:t>
            </a:r>
          </a:p>
          <a:p>
            <a:r>
              <a:t>• TC-005: Order processing</a:t>
            </a:r>
          </a:p>
          <a:p>
            <a:r>
              <a:t>• TC-006: User registration</a:t>
            </a:r>
          </a:p>
          <a:p>
            <a:r>
              <a:t>• TC-007: Product updates</a:t>
            </a:r>
          </a:p>
          <a:p>
            <a:r>
              <a:t>• TC-008: Inventory mgmt</a:t>
            </a:r>
          </a:p>
          <a:p>
            <a:r>
              <a:t>• TC-009: Catalog sync</a:t>
            </a:r>
          </a:p>
          <a:p>
            <a:r>
              <a:t>• TC-010: Regression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011680"/>
            <a:ext cx="411480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 SCREENSHOT]</a:t>
            </a:r>
          </a:p>
          <a:p>
            <a:r>
              <a:t>Test Generation Console Output</a:t>
            </a:r>
          </a:p>
          <a:p>
            <a:r>
              <a:t>(Run: py regenerate_tests.py)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474720"/>
            <a:ext cx="8229600" cy="31089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 LARGE SCREENSHOT]</a:t>
            </a:r>
          </a:p>
          <a:p>
            <a:r>
              <a:t>Full console output showing all 10 test generations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Demo: Test Execution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828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Total: 10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097280"/>
            <a:ext cx="1828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Passed: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0" y="1097280"/>
            <a:ext cx="1828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Failed: 0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097280"/>
            <a:ext cx="1828800" cy="73152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Time: 0.19s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11680"/>
            <a:ext cx="4114800" cy="13716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Test Areas:</a:t>
            </a:r>
          </a:p>
          <a:p>
            <a:r>
              <a:t>• Product management</a:t>
            </a:r>
          </a:p>
          <a:p>
            <a:r>
              <a:t>• Category operations</a:t>
            </a:r>
          </a:p>
          <a:p>
            <a:r>
              <a:t>• Shopping cart</a:t>
            </a:r>
          </a:p>
          <a:p>
            <a:r>
              <a:t>• Order processing</a:t>
            </a:r>
          </a:p>
          <a:p>
            <a:r>
              <a:t>• User management</a:t>
            </a:r>
          </a:p>
          <a:p>
            <a:r>
              <a:t>• Inventory control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011680"/>
            <a:ext cx="4114800" cy="13716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 SCREENSHOT]</a:t>
            </a:r>
          </a:p>
          <a:p>
            <a:r>
              <a:t>Pytest Execution Results</a:t>
            </a:r>
          </a:p>
          <a:p>
            <a:r>
              <a:t>(Run: py -m pytest generated_tests/ -v)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474720"/>
            <a:ext cx="8229600" cy="31089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 LARGE SCREENSHOT]</a:t>
            </a:r>
          </a:p>
          <a:p>
            <a:r>
              <a:t>Full pytest output showing 10/10 tests passed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Challenges Faced and Solutions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09728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Challenge 1: Atlas Dependencies</a:t>
            </a:r>
          </a:p>
          <a:p>
            <a:r>
              <a:t>Issue: Proprietary framework</a:t>
            </a:r>
          </a:p>
          <a:p>
            <a:r>
              <a:t>Solution: Standalone framework</a:t>
            </a:r>
          </a:p>
          <a:p>
            <a:r>
              <a:t>Result: Fully portable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097280"/>
            <a:ext cx="4114800" cy="109728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Challenge 2: Web UI Caching</a:t>
            </a:r>
          </a:p>
          <a:p>
            <a:r>
              <a:t>Issue: Flask caching</a:t>
            </a:r>
          </a:p>
          <a:p>
            <a:r>
              <a:t>Solution: Command-line</a:t>
            </a:r>
          </a:p>
          <a:p>
            <a:r>
              <a:t>Status: Documented for fix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4114800" cy="109728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Challenge 3: RAG Memory</a:t>
            </a:r>
          </a:p>
          <a:p>
            <a:r>
              <a:t>Issue: Excessive memory</a:t>
            </a:r>
          </a:p>
          <a:p>
            <a:r>
              <a:t>Solution: Disabled for demo</a:t>
            </a:r>
          </a:p>
          <a:p>
            <a:r>
              <a:t>Plan: Optimize for final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2286000"/>
            <a:ext cx="4114800" cy="1097280"/>
          </a:xfrm>
          <a:prstGeom prst="rect">
            <a:avLst/>
          </a:prstGeom>
          <a:solidFill>
            <a:srgbClr val="FFE6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C0392B"/>
                </a:solidFill>
              </a:defRPr>
            </a:pPr>
            <a:r>
              <a:t>Challenge 4: Generation Accuracy</a:t>
            </a:r>
          </a:p>
          <a:p>
            <a:r>
              <a:t>Issue: Limited templates</a:t>
            </a:r>
          </a:p>
          <a:p>
            <a:r>
              <a:t>Solution: Enhanced patterns</a:t>
            </a:r>
          </a:p>
          <a:p>
            <a:r>
              <a:t>Result: 100% automation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657600"/>
            <a:ext cx="8229600" cy="292608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Challenge-Solution Matrix]</a:t>
            </a:r>
          </a:p>
          <a:p>
            <a:r>
              <a:t>(Visual representation of challenges and solutions)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Current Status and Future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Mid-Term Demo (Completed):</a:t>
            </a:r>
          </a:p>
          <a:p>
            <a:r>
              <a:t>✓ Standalone framework</a:t>
            </a:r>
          </a:p>
          <a:p>
            <a:r>
              <a:t>✓ Multi-agent architecture</a:t>
            </a:r>
          </a:p>
          <a:p>
            <a:r>
              <a:t>✓ Automated generation (10 tests)</a:t>
            </a:r>
          </a:p>
          <a:p>
            <a:r>
              <a:t>✓ Pytest integration</a:t>
            </a:r>
          </a:p>
          <a:p>
            <a:r>
              <a:t>✓ Mock API simulation</a:t>
            </a:r>
          </a:p>
          <a:p>
            <a:r>
              <a:t>✓ Command-line execution</a:t>
            </a:r>
          </a:p>
          <a:p>
            <a:r>
              <a:t>✓ 100% pass rate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E69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E67E22"/>
                </a:solidFill>
              </a:defRPr>
            </a:pPr>
            <a:r>
              <a:t>Final Demo (Pending):</a:t>
            </a:r>
          </a:p>
          <a:p>
            <a:r>
              <a:t>→ RAG system integration</a:t>
            </a:r>
          </a:p>
          <a:p>
            <a:r>
              <a:t>→ LLM-powered generation</a:t>
            </a:r>
          </a:p>
          <a:p>
            <a:r>
              <a:t>→ Web UI framework fix</a:t>
            </a:r>
          </a:p>
          <a:p>
            <a:r>
              <a:t>→ Enhanced failure analysis</a:t>
            </a:r>
          </a:p>
          <a:p>
            <a:r>
              <a:t>→ Real OME API integration</a:t>
            </a:r>
          </a:p>
          <a:p>
            <a:r>
              <a:t>→ Advanced auto-fixing</a:t>
            </a:r>
          </a:p>
          <a:p>
            <a:r>
              <a:t>→ Performance optimization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017520"/>
            <a:ext cx="8229600" cy="356616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Progress Timeline/Roadmap]</a:t>
            </a:r>
          </a:p>
          <a:p>
            <a:r>
              <a:t>(Visual timeline from mid-term to final demo)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Real-World Application - OME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09728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OME Context:</a:t>
            </a:r>
          </a:p>
          <a:p>
            <a:r>
              <a:t>• Operations Management Environment</a:t>
            </a:r>
          </a:p>
          <a:p>
            <a:r>
              <a:t>• Complex enterprise workflows</a:t>
            </a:r>
          </a:p>
          <a:p>
            <a:r>
              <a:t>• High-volume transactions</a:t>
            </a:r>
          </a:p>
          <a:p>
            <a:r>
              <a:t>• Strict quality requirements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097280"/>
            <a:ext cx="4114800" cy="109728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Integration Plan:</a:t>
            </a:r>
          </a:p>
          <a:p>
            <a:r>
              <a:t>• Replace mock with OME API</a:t>
            </a:r>
          </a:p>
          <a:p>
            <a:r>
              <a:t>• Configure authentication</a:t>
            </a:r>
          </a:p>
          <a:p>
            <a:r>
              <a:t>• Adapt test templates</a:t>
            </a:r>
          </a:p>
          <a:p>
            <a:r>
              <a:t>• Implement OME models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286000"/>
            <a:ext cx="4114800" cy="9144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Expected Benefits:</a:t>
            </a:r>
          </a:p>
          <a:p>
            <a:r>
              <a:t>• 80% reduction in test creation</a:t>
            </a:r>
          </a:p>
          <a:p>
            <a:r>
              <a:t>• Improved test coverage</a:t>
            </a:r>
          </a:p>
          <a:p>
            <a:r>
              <a:t>• Faster regression testing</a:t>
            </a:r>
          </a:p>
          <a:p>
            <a:r>
              <a:t>• CI/CD readiness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286000"/>
            <a:ext cx="4114800" cy="9144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OME Integration Architecture]</a:t>
            </a:r>
          </a:p>
          <a:p>
            <a:r>
              <a:t>(Show ShopEasy → OME mapping)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3291840"/>
            <a:ext cx="8229600" cy="329184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OME System Architecture Diagram]</a:t>
            </a:r>
          </a:p>
          <a:p>
            <a:r>
              <a:t>(Show OME components and integration points)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Evaluation and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4114800" cy="164592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Quantitative Results:</a:t>
            </a:r>
          </a:p>
          <a:p>
            <a:r>
              <a:t>• Test Generation: 10/10 successful</a:t>
            </a:r>
          </a:p>
          <a:p>
            <a:r>
              <a:t>• Test Execution: 10/10 passed (100%)</a:t>
            </a:r>
          </a:p>
          <a:p>
            <a:r>
              <a:t>• Execution Time: 0.19s for suite</a:t>
            </a:r>
          </a:p>
          <a:p>
            <a:r>
              <a:t>• Code Quality: Clean and maintainable</a:t>
            </a:r>
          </a:p>
          <a:p>
            <a:r>
              <a:t>• Framework Independence: No Atlas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1097280"/>
            <a:ext cx="4114800" cy="164592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Qualitative Results:</a:t>
            </a:r>
          </a:p>
          <a:p>
            <a:r>
              <a:t>• Usability: Simple command-line</a:t>
            </a:r>
          </a:p>
          <a:p>
            <a:r>
              <a:t>• Maintainability: Clear structure</a:t>
            </a:r>
          </a:p>
          <a:p>
            <a:r>
              <a:t>• Portability: Cross-platform Python</a:t>
            </a:r>
          </a:p>
          <a:p>
            <a:r>
              <a:t>• Reliability: Consistent results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834640"/>
            <a:ext cx="8229600" cy="3749039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Results Dashboard/Charts]</a:t>
            </a:r>
          </a:p>
          <a:p>
            <a:r>
              <a:t>(Visual representation of all metrics and success indicators)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Conclusion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Conclusion: Successfully developed AI-powered automation • Demonstrated standalone framework (100% success) • Validated multi-agent architecture • Established foundation for OME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03120"/>
            <a:ext cx="4114800" cy="914400"/>
          </a:xfrm>
          <a:prstGeom prst="rect">
            <a:avLst/>
          </a:prstGeom>
          <a:solidFill>
            <a:srgbClr val="E6FFE6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27AE60"/>
                </a:solidFill>
              </a:defRPr>
            </a:pPr>
            <a:r>
              <a:t>Key Achievements: Framework independence • Automated generation • Reliable execution • Comprehensive documentation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108960"/>
            <a:ext cx="8229600" cy="9144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Future Work: Optimize RAG system • Integrate LLM-powered generation • Implement advanced failure analysis • Complete OME API integration • Enhance web UI functionality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8229600" cy="2286000"/>
          </a:xfrm>
          <a:prstGeom prst="roundRect">
            <a:avLst/>
          </a:prstGeom>
          <a:solidFill>
            <a:srgbClr val="F0F0F0"/>
          </a:solidFill>
          <a:ln w="25400">
            <a:solidFill>
              <a:srgbClr val="6464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i="1">
                <a:solidFill>
                  <a:srgbClr val="505050"/>
                </a:solidFill>
              </a:defRPr>
            </a:pPr>
            <a:r>
              <a:t>[INSERT: Achievement Highlights/Success Metrics]</a:t>
            </a:r>
          </a:p>
          <a:p>
            <a:r>
              <a:t>(Visual summary of key accomplishments)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3E50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Questions &amp; Answers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3657600" cy="13716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Contact:</a:t>
            </a:r>
          </a:p>
          <a:p>
            <a:r>
              <a:t>Presenter: [Your Name]</a:t>
            </a:r>
          </a:p>
          <a:p>
            <a:r>
              <a:t>Email: [your.email@institution.edu]</a:t>
            </a:r>
          </a:p>
          <a:p>
            <a:r>
              <a:t>Project: AI-Powered Agentic Test Automation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0" y="1371600"/>
            <a:ext cx="2743200" cy="137160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16A085"/>
                </a:solidFill>
              </a:defRPr>
            </a:pPr>
            <a:r>
              <a:t>Resources:</a:t>
            </a:r>
          </a:p>
          <a:p>
            <a:r>
              <a:t>• Demo Execution Guide</a:t>
            </a:r>
          </a:p>
          <a:p>
            <a:r>
              <a:t>• Installation Instructions</a:t>
            </a:r>
          </a:p>
          <a:p>
            <a:r>
              <a:t>• Project Documentation</a:t>
            </a:r>
          </a:p>
          <a:p>
            <a:r>
              <a:t>• Source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2926080"/>
            <a:ext cx="6400800" cy="731520"/>
          </a:xfrm>
          <a:prstGeom prst="rect">
            <a:avLst/>
          </a:prstGeom>
          <a:solidFill>
            <a:srgbClr val="ECF0F1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>
                <a:solidFill>
                  <a:srgbClr val="34495E"/>
                </a:solidFill>
              </a:defRPr>
            </a:pPr>
            <a:r>
              <a:t>Acknowledgments: Faculty guidance • Institution support • Open-source community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3931920"/>
            <a:ext cx="2743200" cy="914400"/>
          </a:xfrm>
          <a:prstGeom prst="roundRect">
            <a:avLst/>
          </a:prstGeom>
          <a:solidFill>
            <a:srgbClr val="16A085"/>
          </a:solidFill>
          <a:ln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